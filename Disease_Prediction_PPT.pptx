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132320" y="-1097280"/>
            <a:ext cx="4754880" cy="4754880"/>
          </a:xfrm>
          <a:prstGeom prst="ellipse">
            <a:avLst/>
          </a:prstGeom>
          <a:solidFill>
            <a:srgbClr val="401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3474720"/>
            <a:ext cx="2560320" cy="2560320"/>
          </a:xfrm>
          <a:prstGeom prst="ellipse">
            <a:avLst/>
          </a:prstGeom>
          <a:solidFill>
            <a:srgbClr val="352A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822960" y="4114800"/>
            <a:ext cx="2194560" cy="2194560"/>
          </a:xfrm>
          <a:prstGeom prst="ellipse">
            <a:avLst/>
          </a:prstGeom>
          <a:solidFill>
            <a:srgbClr val="082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694944"/>
            <a:ext cx="2761488" cy="246888"/>
          </a:xfrm>
          <a:prstGeom prst="roundRect">
            <a:avLst/>
          </a:prstGeom>
          <a:solidFill>
            <a:srgbClr val="FF6B2B"/>
          </a:solidFill>
          <a:ln>
            <a:noFill/>
          </a:ln>
          <a:effectLst>
            <a:outerShdw blurRad="40000" dist="12000" dir="5400000" algn="tl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731520"/>
            <a:ext cx="2596896" cy="16459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780" b="1" i="0">
                <a:solidFill>
                  <a:srgbClr val="070B14"/>
                </a:solidFill>
                <a:latin typeface="Segoe UI Semibold"/>
              </a:rPr>
              <a:t>AI HEALTHCARE  ·  ML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5852160" cy="7132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5200" b="1" i="0">
                <a:solidFill>
                  <a:srgbClr val="F2F5FA"/>
                </a:solidFill>
                <a:latin typeface="Segoe UI Black"/>
              </a:rPr>
              <a:t>Disease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75104"/>
            <a:ext cx="6583680" cy="8412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6000" b="1" i="0">
                <a:solidFill>
                  <a:srgbClr val="FF6B2B"/>
                </a:solidFill>
                <a:latin typeface="Segoe UI Black"/>
              </a:rPr>
              <a:t>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889504"/>
            <a:ext cx="5486400" cy="62179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4000" b="1" i="0">
                <a:solidFill>
                  <a:srgbClr val="C8D0DE"/>
                </a:solidFill>
                <a:latin typeface="Segoe UI Semibold"/>
              </a:rPr>
              <a:t>System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3621024"/>
            <a:ext cx="4251960" cy="0"/>
          </a:xfrm>
          <a:prstGeom prst="line">
            <a:avLst/>
          </a:prstGeom>
          <a:ln w="22860">
            <a:solidFill>
              <a:srgbClr val="FF6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0352" y="3749039"/>
            <a:ext cx="5166360" cy="7132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300" b="0" i="0">
                <a:solidFill>
                  <a:srgbClr val="8A94A6"/>
                </a:solidFill>
                <a:latin typeface="Segoe UI"/>
              </a:rPr>
              <a:t>A severity-aware, age-context disease classification pipeline comparing Decision Tree, Random Forest, XGBoost, and Stacking Ensemble across 41 disease categories.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" y="4681728"/>
            <a:ext cx="1664208" cy="987552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4617720"/>
            <a:ext cx="1664208" cy="987552"/>
          </a:xfrm>
          <a:prstGeom prst="roundRect">
            <a:avLst/>
          </a:prstGeom>
          <a:solidFill>
            <a:srgbClr val="171D2C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672583"/>
            <a:ext cx="50292" cy="877824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690872"/>
            <a:ext cx="1426464" cy="43452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2600" b="1" i="0">
                <a:solidFill>
                  <a:srgbClr val="FF6B2B"/>
                </a:solidFill>
                <a:latin typeface="Segoe UI Black"/>
              </a:rPr>
              <a:t>93.50%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230002"/>
            <a:ext cx="1481328" cy="335767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8A94A6"/>
                </a:solidFill>
                <a:latin typeface="Segoe UI"/>
              </a:rPr>
              <a:t>Best Accuracy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68296" y="4681728"/>
            <a:ext cx="1664208" cy="987552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13432" y="4617720"/>
            <a:ext cx="1664208" cy="987552"/>
          </a:xfrm>
          <a:prstGeom prst="roundRect">
            <a:avLst/>
          </a:prstGeom>
          <a:solidFill>
            <a:srgbClr val="171D2C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13432" y="4672583"/>
            <a:ext cx="50292" cy="877824"/>
          </a:xfrm>
          <a:prstGeom prst="rect">
            <a:avLst/>
          </a:prstGeom>
          <a:solidFill>
            <a:srgbClr val="FFB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41448" y="4690872"/>
            <a:ext cx="1426464" cy="43452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2600" b="1" i="0">
                <a:solidFill>
                  <a:srgbClr val="FFB330"/>
                </a:solidFill>
                <a:latin typeface="Segoe UI Black"/>
              </a:rPr>
              <a:t>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04872" y="5230002"/>
            <a:ext cx="1481328" cy="335767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8A94A6"/>
                </a:solidFill>
                <a:latin typeface="Segoe UI"/>
              </a:rPr>
              <a:t>Diseases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78807" y="4681728"/>
            <a:ext cx="1664208" cy="987552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123944" y="4617720"/>
            <a:ext cx="1664208" cy="987552"/>
          </a:xfrm>
          <a:prstGeom prst="roundRect">
            <a:avLst/>
          </a:prstGeom>
          <a:solidFill>
            <a:srgbClr val="171D2C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23944" y="4672583"/>
            <a:ext cx="50292" cy="877824"/>
          </a:xfrm>
          <a:prstGeom prst="rect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51959" y="4690872"/>
            <a:ext cx="1426464" cy="43452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2600" b="1" i="0">
                <a:solidFill>
                  <a:srgbClr val="2DCEBF"/>
                </a:solidFill>
                <a:latin typeface="Segoe UI Black"/>
              </a:rPr>
              <a:t>135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15383" y="5230002"/>
            <a:ext cx="1481328" cy="335767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8A94A6"/>
                </a:solidFill>
                <a:latin typeface="Segoe UI"/>
              </a:rPr>
              <a:t>Features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78624" y="960120"/>
            <a:ext cx="4462272" cy="5102352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223760" y="896112"/>
            <a:ext cx="4462272" cy="5102352"/>
          </a:xfrm>
          <a:prstGeom prst="roundRect">
            <a:avLst/>
          </a:prstGeom>
          <a:solidFill>
            <a:srgbClr val="171D2C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23760" y="950976"/>
            <a:ext cx="50292" cy="4992624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71231" y="1225296"/>
            <a:ext cx="3291840" cy="3200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500" b="1" i="0">
                <a:solidFill>
                  <a:srgbClr val="F2F5FA"/>
                </a:solidFill>
                <a:latin typeface="Segoe UI Semibold"/>
              </a:rPr>
              <a:t>ML Pipeline</a:t>
            </a:r>
          </a:p>
        </p:txBody>
      </p:sp>
      <p:sp>
        <p:nvSpPr>
          <p:cNvPr id="32" name="Oval 31"/>
          <p:cNvSpPr/>
          <p:nvPr/>
        </p:nvSpPr>
        <p:spPr>
          <a:xfrm>
            <a:off x="7589520" y="1700784"/>
            <a:ext cx="347472" cy="347472"/>
          </a:xfrm>
          <a:prstGeom prst="ellipse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0" y="1764792"/>
            <a:ext cx="347472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800" b="1" i="0">
                <a:solidFill>
                  <a:srgbClr val="070B14"/>
                </a:solidFill>
                <a:latin typeface="Segoe UI"/>
              </a:rPr>
              <a:t>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65008" y="1755648"/>
            <a:ext cx="320040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150" b="1" i="0">
                <a:solidFill>
                  <a:srgbClr val="C8D0DE"/>
                </a:solidFill>
                <a:latin typeface="Segoe UI Semibold"/>
              </a:rPr>
              <a:t>Symptoms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763256" y="2066544"/>
            <a:ext cx="0" cy="310896"/>
          </a:xfrm>
          <a:prstGeom prst="line">
            <a:avLst/>
          </a:prstGeom>
          <a:ln w="13970">
            <a:solidFill>
              <a:srgbClr val="282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7589520" y="2414016"/>
            <a:ext cx="347472" cy="347472"/>
          </a:xfrm>
          <a:prstGeom prst="ellipse">
            <a:avLst/>
          </a:prstGeom>
          <a:solidFill>
            <a:srgbClr val="FFB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89520" y="2478024"/>
            <a:ext cx="347472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800" b="1" i="0">
                <a:solidFill>
                  <a:srgbClr val="070B14"/>
                </a:solidFill>
                <a:latin typeface="Segoe UI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65008" y="2468880"/>
            <a:ext cx="320040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150" b="1" i="0">
                <a:solidFill>
                  <a:srgbClr val="C8D0DE"/>
                </a:solidFill>
                <a:latin typeface="Segoe UI Semibold"/>
              </a:rPr>
              <a:t>Severity Encoding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763256" y="2779776"/>
            <a:ext cx="0" cy="310896"/>
          </a:xfrm>
          <a:prstGeom prst="line">
            <a:avLst/>
          </a:prstGeom>
          <a:ln w="13970">
            <a:solidFill>
              <a:srgbClr val="282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7589520" y="3127248"/>
            <a:ext cx="347472" cy="347472"/>
          </a:xfrm>
          <a:prstGeom prst="ellipse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89520" y="3191256"/>
            <a:ext cx="347472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800" b="1" i="0">
                <a:solidFill>
                  <a:srgbClr val="070B14"/>
                </a:solidFill>
                <a:latin typeface="Segoe UI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65008" y="3182112"/>
            <a:ext cx="320040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150" b="1" i="0">
                <a:solidFill>
                  <a:srgbClr val="C8D0DE"/>
                </a:solidFill>
                <a:latin typeface="Segoe UI Semibold"/>
              </a:rPr>
              <a:t>Age Features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763256" y="3493008"/>
            <a:ext cx="0" cy="310896"/>
          </a:xfrm>
          <a:prstGeom prst="line">
            <a:avLst/>
          </a:prstGeom>
          <a:ln w="13970">
            <a:solidFill>
              <a:srgbClr val="282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7589520" y="3840480"/>
            <a:ext cx="347472" cy="347472"/>
          </a:xfrm>
          <a:prstGeom prst="ellipse">
            <a:avLst/>
          </a:prstGeom>
          <a:solidFill>
            <a:srgbClr val="5B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89520" y="3904488"/>
            <a:ext cx="347472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800" b="1" i="0">
                <a:solidFill>
                  <a:srgbClr val="070B14"/>
                </a:solidFill>
                <a:latin typeface="Segoe UI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65008" y="3895344"/>
            <a:ext cx="320040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150" b="1" i="0">
                <a:solidFill>
                  <a:srgbClr val="C8D0DE"/>
                </a:solidFill>
                <a:latin typeface="Segoe UI Semibold"/>
              </a:rPr>
              <a:t>Ensemble Training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763256" y="4206240"/>
            <a:ext cx="0" cy="310896"/>
          </a:xfrm>
          <a:prstGeom prst="line">
            <a:avLst/>
          </a:prstGeom>
          <a:ln w="13970">
            <a:solidFill>
              <a:srgbClr val="282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7589520" y="4553712"/>
            <a:ext cx="347472" cy="347472"/>
          </a:xfrm>
          <a:prstGeom prst="ellipse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89520" y="4617720"/>
            <a:ext cx="347472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800" b="1" i="0">
                <a:solidFill>
                  <a:srgbClr val="070B14"/>
                </a:solidFill>
                <a:latin typeface="Segoe UI"/>
              </a:rPr>
              <a:t>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65008" y="4608576"/>
            <a:ext cx="320040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150" b="1" i="0">
                <a:solidFill>
                  <a:srgbClr val="C8D0DE"/>
                </a:solidFill>
                <a:latin typeface="Segoe UI Semibold"/>
              </a:rPr>
              <a:t>Prediction Output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71231" y="5833872"/>
            <a:ext cx="3822191" cy="219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Segoe UI"/>
              </a:rPr>
              <a:t>ITER, SOA University  |  May 2026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528816"/>
            <a:ext cx="12188952" cy="9144"/>
          </a:xfrm>
          <a:prstGeom prst="rect">
            <a:avLst/>
          </a:prstGeom>
          <a:solidFill>
            <a:srgbClr val="282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50" b="0" i="0">
                <a:solidFill>
                  <a:srgbClr val="8A94A6"/>
                </a:solidFill>
                <a:latin typeface="Segoe UI"/>
              </a:rPr>
              <a:t>Disease Prediction System  ·  Using Machine Learning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59752" y="6565392"/>
            <a:ext cx="45720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750" b="0" i="0">
                <a:solidFill>
                  <a:srgbClr val="8A94A6"/>
                </a:solidFill>
                <a:latin typeface="Segoe UI"/>
              </a:rPr>
              <a:t>MLC-2  |  CSE 3968  |  ITER, SOA University  |  May 2026</a:t>
            </a:r>
          </a:p>
        </p:txBody>
      </p:sp>
    </p:spTree>
  </p:cSld>
  <p:clrMapOvr>
    <a:masterClrMapping/>
  </p:clrMapOvr>
  <p:timing>
    <p:tnLst>
      <p:par>
        <p:cTn id="101" dur="indefinite" restart="whenNotActive" nodeType="tmRoot">
          <p:childTnLst>
            <p:seq concurrent="1" nextAc="seek">
              <p:cTn id="102" dur="indefinite" nodeType="mainSeq">
                <p:childTnLst>
                  <p:par>
                    <p:cTn id="103" fill="hold" nodeType="afterEffect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6" dur="55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afterEffect">
                      <p:stCondLst>
                        <p:cond delay="12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0" dur="55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 nodeType="afterEffect">
                      <p:stCondLst>
                        <p:cond delay="24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4" dur="5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afterEffect">
                      <p:stCondLst>
                        <p:cond delay="400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8" dur="5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 nodeType="afterEffect">
                      <p:stCondLst>
                        <p:cond delay="200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2" dur="6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n val="102"/>
                </p:cond>
              </p:nextCondLst>
            </p:seq>
          </p:childTnLst>
        </p:cTn>
      </p:par>
    </p:tnLst>
  </p:timing>
  <p:transition dur="9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B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128016"/>
            <a:ext cx="2153412" cy="274320"/>
          </a:xfrm>
          <a:prstGeom prst="round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137160"/>
            <a:ext cx="320040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50" b="1" i="0">
                <a:solidFill>
                  <a:srgbClr val="070B14"/>
                </a:solidFill>
                <a:latin typeface="Segoe UI Semibold"/>
              </a:rPr>
              <a:t>PRESENTATION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74552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800" b="1" i="0">
                <a:solidFill>
                  <a:srgbClr val="F2F5FA"/>
                </a:solidFill>
                <a:latin typeface="Segoe UI Semibold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96112"/>
            <a:ext cx="9245132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Segoe UI"/>
              </a:rPr>
              <a:t>From data to validated predictions — a complete walkthrough.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28816"/>
            <a:ext cx="12188952" cy="9144"/>
          </a:xfrm>
          <a:prstGeom prst="rect">
            <a:avLst/>
          </a:prstGeom>
          <a:solidFill>
            <a:srgbClr val="282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50" b="0" i="0">
                <a:solidFill>
                  <a:srgbClr val="8A94A6"/>
                </a:solidFill>
                <a:latin typeface="Segoe UI"/>
              </a:rPr>
              <a:t>Disease Prediction System  ·  Using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59752" y="6565392"/>
            <a:ext cx="45720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750" b="0" i="0">
                <a:solidFill>
                  <a:srgbClr val="8A94A6"/>
                </a:solidFill>
                <a:latin typeface="Segoe UI"/>
              </a:rPr>
              <a:t>MLC-2  |  CSE 3968  |  ITER, SOA University  |  May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" y="1179576"/>
            <a:ext cx="3456432" cy="193852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115568"/>
            <a:ext cx="3456432" cy="193852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170432"/>
            <a:ext cx="50292" cy="18288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1371600"/>
            <a:ext cx="384048" cy="384048"/>
          </a:xfrm>
          <a:prstGeom prst="ellipse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48409"/>
            <a:ext cx="384048" cy="21122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100" b="1" i="0">
                <a:solidFill>
                  <a:srgbClr val="070B14"/>
                </a:solidFill>
                <a:latin typeface="Segoe UI Black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7" y="1353312"/>
            <a:ext cx="237744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350" b="1" i="0">
                <a:solidFill>
                  <a:srgbClr val="F2F5FA"/>
                </a:solidFill>
                <a:latin typeface="Segoe UI Semibold"/>
              </a:rPr>
              <a:t>Problem Statement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1847088"/>
            <a:ext cx="301752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8A94A6"/>
                </a:solidFill>
                <a:latin typeface="Segoe UI"/>
              </a:rPr>
              <a:t>Why ML for disease prediction?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5" y="1179576"/>
            <a:ext cx="3456432" cy="193852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79392" y="1115568"/>
            <a:ext cx="3456432" cy="193852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79392" y="1170432"/>
            <a:ext cx="50292" cy="1828800"/>
          </a:xfrm>
          <a:prstGeom prst="rect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80559" y="1371600"/>
            <a:ext cx="384048" cy="384048"/>
          </a:xfrm>
          <a:prstGeom prst="ellipse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59" y="1448409"/>
            <a:ext cx="384048" cy="21122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100" b="1" i="0">
                <a:solidFill>
                  <a:srgbClr val="070B14"/>
                </a:solidFill>
                <a:latin typeface="Segoe UI Black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1353312"/>
            <a:ext cx="237744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350" b="1" i="0">
                <a:solidFill>
                  <a:srgbClr val="F2F5FA"/>
                </a:solidFill>
                <a:latin typeface="Segoe UI Semibold"/>
              </a:rPr>
              <a:t>Dataset &amp; 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59" y="1847088"/>
            <a:ext cx="301752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8A94A6"/>
                </a:solidFill>
                <a:latin typeface="Segoe UI"/>
              </a:rPr>
              <a:t>4,925 records · 41 diseases · 135 features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56448" y="1179576"/>
            <a:ext cx="3456432" cy="193852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01583" y="1115568"/>
            <a:ext cx="3456432" cy="193852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01583" y="1170432"/>
            <a:ext cx="50292" cy="1828800"/>
          </a:xfrm>
          <a:prstGeom prst="rect">
            <a:avLst/>
          </a:prstGeom>
          <a:solidFill>
            <a:srgbClr val="5B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02752" y="1371600"/>
            <a:ext cx="384048" cy="384048"/>
          </a:xfrm>
          <a:prstGeom prst="ellipse">
            <a:avLst/>
          </a:prstGeom>
          <a:solidFill>
            <a:srgbClr val="5B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1448409"/>
            <a:ext cx="384048" cy="21122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100" b="1" i="0">
                <a:solidFill>
                  <a:srgbClr val="070B14"/>
                </a:solidFill>
                <a:latin typeface="Segoe UI Black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1353312"/>
            <a:ext cx="237744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350" b="1" i="0">
                <a:solidFill>
                  <a:srgbClr val="F2F5FA"/>
                </a:solidFill>
                <a:latin typeface="Segoe UI Semibold"/>
              </a:rPr>
              <a:t>Pipeline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1847088"/>
            <a:ext cx="301752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8A94A6"/>
                </a:solidFill>
                <a:latin typeface="Segoe UI"/>
              </a:rPr>
              <a:t>End-to-end preprocessing flow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2064" y="3392423"/>
            <a:ext cx="3456432" cy="193852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3328415"/>
            <a:ext cx="3456432" cy="193852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383279"/>
            <a:ext cx="50292" cy="1828800"/>
          </a:xfrm>
          <a:prstGeom prst="rect">
            <a:avLst/>
          </a:prstGeom>
          <a:solidFill>
            <a:srgbClr val="FFB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584448"/>
            <a:ext cx="384048" cy="384048"/>
          </a:xfrm>
          <a:prstGeom prst="ellipse">
            <a:avLst/>
          </a:prstGeom>
          <a:solidFill>
            <a:srgbClr val="FFB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661257"/>
            <a:ext cx="384048" cy="21122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100" b="1" i="0">
                <a:solidFill>
                  <a:srgbClr val="070B14"/>
                </a:solidFill>
                <a:latin typeface="Segoe UI Black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07007" y="3566159"/>
            <a:ext cx="237744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350" b="1" i="0">
                <a:solidFill>
                  <a:srgbClr val="F2F5FA"/>
                </a:solidFill>
                <a:latin typeface="Segoe UI Semibold"/>
              </a:rPr>
              <a:t>Four Models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4059935"/>
            <a:ext cx="301752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8A94A6"/>
                </a:solidFill>
                <a:latin typeface="Segoe UI"/>
              </a:rPr>
              <a:t>DT · RF · XGB · Stacking Ensemble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34255" y="3392423"/>
            <a:ext cx="3456432" cy="193852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279392" y="3328415"/>
            <a:ext cx="3456432" cy="193852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79392" y="3383279"/>
            <a:ext cx="50292" cy="1828800"/>
          </a:xfrm>
          <a:prstGeom prst="rect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480559" y="3584448"/>
            <a:ext cx="384048" cy="384048"/>
          </a:xfrm>
          <a:prstGeom prst="ellipse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80559" y="3661257"/>
            <a:ext cx="384048" cy="21122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100" b="1" i="0">
                <a:solidFill>
                  <a:srgbClr val="070B14"/>
                </a:solidFill>
                <a:latin typeface="Segoe UI Black"/>
              </a:rPr>
              <a:t>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3566159"/>
            <a:ext cx="237744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350" b="1" i="0">
                <a:solidFill>
                  <a:srgbClr val="F2F5FA"/>
                </a:solidFill>
                <a:latin typeface="Segoe UI Semibold"/>
              </a:rPr>
              <a:t>Results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59" y="4059935"/>
            <a:ext cx="301752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8A94A6"/>
                </a:solidFill>
                <a:latin typeface="Segoe UI"/>
              </a:rPr>
              <a:t>Accuracy, precision, recall, F1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56448" y="3392423"/>
            <a:ext cx="3456432" cy="193852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101583" y="3328415"/>
            <a:ext cx="3456432" cy="193852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01583" y="3383279"/>
            <a:ext cx="50292" cy="1828800"/>
          </a:xfrm>
          <a:prstGeom prst="rect">
            <a:avLst/>
          </a:prstGeom>
          <a:solidFill>
            <a:srgbClr val="BD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302752" y="3584448"/>
            <a:ext cx="384048" cy="384048"/>
          </a:xfrm>
          <a:prstGeom prst="ellipse">
            <a:avLst/>
          </a:prstGeom>
          <a:solidFill>
            <a:srgbClr val="BD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02752" y="3661257"/>
            <a:ext cx="384048" cy="21122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100" b="1" i="0">
                <a:solidFill>
                  <a:srgbClr val="070B14"/>
                </a:solidFill>
                <a:latin typeface="Segoe UI Black"/>
              </a:rPr>
              <a:t>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51392" y="3566159"/>
            <a:ext cx="237744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350" b="1" i="0">
                <a:solidFill>
                  <a:srgbClr val="F2F5FA"/>
                </a:solidFill>
                <a:latin typeface="Segoe UI Semibold"/>
              </a:rPr>
              <a:t>Insights &amp; Future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02752" y="4059935"/>
            <a:ext cx="3017520" cy="47548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8A94A6"/>
                </a:solidFill>
                <a:latin typeface="Segoe UI"/>
              </a:rPr>
              <a:t>Feature importance · next steps</a:t>
            </a:r>
          </a:p>
        </p:txBody>
      </p:sp>
    </p:spTree>
  </p:cSld>
  <p:clrMapOvr>
    <a:masterClrMapping/>
  </p:clrMapOvr>
  <p:timing>
    <p:tnLst>
      <p:par>
        <p:cTn id="101" dur="indefinite" restart="whenNotActive" nodeType="tmRoot">
          <p:childTnLst>
            <p:seq concurrent="1" nextAc="seek">
              <p:cTn id="102" dur="indefinite" nodeType="mainSeq">
                <p:childTnLst>
                  <p:par>
                    <p:cTn id="103" fill="hold" nodeType="afterEffect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6" dur="4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afterEffect">
                      <p:stCondLst>
                        <p:cond delay="11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0" dur="4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 nodeType="afterEffect">
                      <p:stCondLst>
                        <p:cond delay="22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4" dur="4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afterEffect">
                      <p:stCondLst>
                        <p:cond delay="330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8" dur="4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 nodeType="afterEffect">
                      <p:stCondLst>
                        <p:cond delay="440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2" dur="4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 nodeType="afterEffect">
                      <p:stCondLst>
                        <p:cond delay="55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6" dur="4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n val="102"/>
                </p:cond>
              </p:nextCondLst>
            </p:seq>
          </p:childTnLst>
        </p:cTn>
      </p:par>
    </p:tnLst>
  </p:timing>
  <p:transition dur="650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128016"/>
            <a:ext cx="1101852" cy="274320"/>
          </a:xfrm>
          <a:prstGeom prst="round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137160"/>
            <a:ext cx="320040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50" b="1" i="0">
                <a:solidFill>
                  <a:srgbClr val="070B14"/>
                </a:solidFill>
                <a:latin typeface="Segoe UI Semibold"/>
              </a:rPr>
              <a:t>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74552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800" b="1" i="0">
                <a:solidFill>
                  <a:srgbClr val="F2F5FA"/>
                </a:solidFill>
                <a:latin typeface="Segoe UI Semibold"/>
              </a:rPr>
              <a:t>Clinical Decision Support Needs Better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96112"/>
            <a:ext cx="9245132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Segoe UI"/>
              </a:rPr>
              <a:t>Reframing symptom-based diagnosis as a multi-class classification problem.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28816"/>
            <a:ext cx="12188952" cy="9144"/>
          </a:xfrm>
          <a:prstGeom prst="rect">
            <a:avLst/>
          </a:prstGeom>
          <a:solidFill>
            <a:srgbClr val="282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50" b="0" i="0">
                <a:solidFill>
                  <a:srgbClr val="8A94A6"/>
                </a:solidFill>
                <a:latin typeface="Segoe UI"/>
              </a:rPr>
              <a:t>Disease Prediction System  ·  Using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59752" y="6565392"/>
            <a:ext cx="45720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750" b="0" i="0">
                <a:solidFill>
                  <a:srgbClr val="8A94A6"/>
                </a:solidFill>
                <a:latin typeface="Segoe UI"/>
              </a:rPr>
              <a:t>MLC-2  |  CSE 3968  |  ITER, SOA University  |  May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15568"/>
            <a:ext cx="11274552" cy="749808"/>
          </a:xfrm>
          <a:prstGeom prst="roundRect">
            <a:avLst/>
          </a:prstGeom>
          <a:solidFill>
            <a:srgbClr val="1A1006"/>
          </a:solidFill>
          <a:ln w="17780">
            <a:solidFill>
              <a:srgbClr val="FF6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225295"/>
            <a:ext cx="10762488" cy="51206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450" b="0" i="1">
                <a:solidFill>
                  <a:srgbClr val="F2F5FA"/>
                </a:solidFill>
                <a:latin typeface="Segoe UI Italic"/>
              </a:rPr>
              <a:t>"A patient reports: fever · joint pain · fatigue. Is it Malaria, Dengue, Typhoid, or Arthritis? The same symptoms → 4+ possible diagnoses."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" y="2112264"/>
            <a:ext cx="3605784" cy="3090672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048256"/>
            <a:ext cx="3605784" cy="3090672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103120"/>
            <a:ext cx="50292" cy="2980944"/>
          </a:xfrm>
          <a:prstGeom prst="rect">
            <a:avLst/>
          </a:prstGeom>
          <a:solidFill>
            <a:srgbClr val="F9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2048256"/>
            <a:ext cx="3605784" cy="384048"/>
          </a:xfrm>
          <a:prstGeom prst="roundRect">
            <a:avLst/>
          </a:prstGeom>
          <a:solidFill>
            <a:srgbClr val="F9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066544"/>
            <a:ext cx="3605784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300" b="1" i="0">
                <a:solidFill>
                  <a:srgbClr val="070B14"/>
                </a:solidFill>
                <a:latin typeface="Segoe UI Semibold"/>
              </a:rPr>
              <a:t>Challenge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51176"/>
            <a:ext cx="3349752" cy="24231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Aft>
                <a:spcPts val="800"/>
              </a:spcAft>
            </a:pPr>
            <a:r>
              <a:rPr sz="1150" b="0">
                <a:solidFill>
                  <a:srgbClr val="C8D0DE"/>
                </a:solidFill>
                <a:latin typeface="Segoe UI"/>
              </a:rPr>
              <a:t>• 41 overlapping disease classes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C8D0DE"/>
                </a:solidFill>
                <a:latin typeface="Segoe UI"/>
              </a:rPr>
              <a:t>• Symptoms shared across diseases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C8D0DE"/>
                </a:solidFill>
                <a:latin typeface="Segoe UI"/>
              </a:rPr>
              <a:t>• Hard to distinguish without lab tests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6448" y="2112264"/>
            <a:ext cx="3605784" cy="3090672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91584" y="2048256"/>
            <a:ext cx="3605784" cy="3090672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91584" y="2103120"/>
            <a:ext cx="50292" cy="2980944"/>
          </a:xfrm>
          <a:prstGeom prst="rect">
            <a:avLst/>
          </a:prstGeom>
          <a:solidFill>
            <a:srgbClr val="FFB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291584" y="2048256"/>
            <a:ext cx="3605784" cy="384048"/>
          </a:xfrm>
          <a:prstGeom prst="roundRect">
            <a:avLst/>
          </a:prstGeom>
          <a:solidFill>
            <a:srgbClr val="FFB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1584" y="2066544"/>
            <a:ext cx="3605784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300" b="1" i="0">
                <a:solidFill>
                  <a:srgbClr val="070B14"/>
                </a:solidFill>
                <a:latin typeface="Segoe UI Semibold"/>
              </a:rPr>
              <a:t>Feature Gap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4464" y="2551176"/>
            <a:ext cx="3349752" cy="24231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Aft>
                <a:spcPts val="800"/>
              </a:spcAft>
            </a:pPr>
            <a:r>
              <a:rPr sz="1150" b="0">
                <a:solidFill>
                  <a:srgbClr val="C8D0DE"/>
                </a:solidFill>
                <a:latin typeface="Segoe UI"/>
              </a:rPr>
              <a:t>• Binary encoding loses severity nuance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C8D0DE"/>
                </a:solidFill>
                <a:latin typeface="Segoe UI"/>
              </a:rPr>
              <a:t>• No age-context in prior systems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C8D0DE"/>
                </a:solidFill>
                <a:latin typeface="Segoe UI"/>
              </a:rPr>
              <a:t>• Noise from incomplete patient reports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0832" y="2112264"/>
            <a:ext cx="3605784" cy="3090672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25968" y="2048256"/>
            <a:ext cx="3605784" cy="3090672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5968" y="2103120"/>
            <a:ext cx="50292" cy="2980944"/>
          </a:xfrm>
          <a:prstGeom prst="rect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25968" y="2048256"/>
            <a:ext cx="3605784" cy="384048"/>
          </a:xfrm>
          <a:prstGeom prst="roundRect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5968" y="2066544"/>
            <a:ext cx="3605784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300" b="1" i="0">
                <a:solidFill>
                  <a:srgbClr val="070B14"/>
                </a:solidFill>
                <a:latin typeface="Segoe UI Semibold"/>
              </a:rPr>
              <a:t>Our Solution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8847" y="2551176"/>
            <a:ext cx="3349752" cy="24231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Aft>
                <a:spcPts val="800"/>
              </a:spcAft>
            </a:pPr>
            <a:r>
              <a:rPr sz="1150" b="0">
                <a:solidFill>
                  <a:srgbClr val="C8D0DE"/>
                </a:solidFill>
                <a:latin typeface="Segoe UI"/>
              </a:rPr>
              <a:t>• Severity-weighted feature matrix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C8D0DE"/>
                </a:solidFill>
                <a:latin typeface="Segoe UI"/>
              </a:rPr>
              <a:t>• Epidemiological age feature added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C8D0DE"/>
                </a:solidFill>
                <a:latin typeface="Segoe UI"/>
              </a:rPr>
              <a:t>• Stacking Ensemble meta-learner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724144"/>
            <a:ext cx="11274552" cy="493776"/>
          </a:xfrm>
          <a:prstGeom prst="roundRect">
            <a:avLst/>
          </a:prstGeom>
          <a:solidFill>
            <a:srgbClr val="12192A"/>
          </a:solidFill>
          <a:ln w="15240">
            <a:solidFill>
              <a:srgbClr val="2DCE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779008"/>
            <a:ext cx="10817352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200" b="1" i="0">
                <a:solidFill>
                  <a:srgbClr val="2DCEBF"/>
                </a:solidFill>
                <a:latin typeface="Segoe UI"/>
              </a:rPr>
              <a:t>Task: predict which of 41 diseases a patient most likely has from a 135-feature vector (severity-weighted symptoms + age)</a:t>
            </a:r>
          </a:p>
        </p:txBody>
      </p:sp>
    </p:spTree>
  </p:cSld>
  <p:clrMapOvr>
    <a:masterClrMapping/>
  </p:clrMapOvr>
  <p:timing>
    <p:tnLst>
      <p:par>
        <p:cTn id="101" dur="indefinite" restart="whenNotActive" nodeType="tmRoot">
          <p:childTnLst>
            <p:seq concurrent="1" nextAc="seek">
              <p:cTn id="102" dur="indefinite" nodeType="mainSeq">
                <p:childTnLst>
                  <p:par>
                    <p:cTn id="103" fill="hold" nodeType="afterEffect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6" dur="5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afterEffect">
                      <p:stCondLst>
                        <p:cond delay="12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InFromBottom">
                                      <p:cBhvr>
                                        <p:cTn id="110" dur="5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 nodeType="afterEffect">
                      <p:stCondLst>
                        <p:cond delay="27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InFromBottom">
                                      <p:cBhvr>
                                        <p:cTn id="114" dur="5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afterEffect">
                      <p:stCondLst>
                        <p:cond delay="420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InFromBottom">
                                      <p:cBhvr>
                                        <p:cTn id="118" dur="5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 nodeType="afterEffect">
                      <p:stCondLst>
                        <p:cond delay="600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2" dur="4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n val="102"/>
                </p:cond>
              </p:nextCondLst>
            </p:seq>
          </p:childTnLst>
        </p:cTn>
      </p:par>
    </p:tnLst>
  </p:timing>
  <p:transition dur="7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128016"/>
            <a:ext cx="1101852" cy="274320"/>
          </a:xfrm>
          <a:prstGeom prst="round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137160"/>
            <a:ext cx="320040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50" b="1" i="0">
                <a:solidFill>
                  <a:srgbClr val="070B14"/>
                </a:solidFill>
                <a:latin typeface="Segoe UI Semibold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74552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800" b="1" i="0">
                <a:solidFill>
                  <a:srgbClr val="F2F5FA"/>
                </a:solidFill>
                <a:latin typeface="Segoe UI Semibold"/>
              </a:rPr>
              <a:t>Feature Engineering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96112"/>
            <a:ext cx="9245132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Segoe UI"/>
              </a:rPr>
              <a:t>Severity-weighted symptoms + epidemiological age context → 135 model-ready features.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28816"/>
            <a:ext cx="12188952" cy="9144"/>
          </a:xfrm>
          <a:prstGeom prst="rect">
            <a:avLst/>
          </a:prstGeom>
          <a:solidFill>
            <a:srgbClr val="282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50" b="0" i="0">
                <a:solidFill>
                  <a:srgbClr val="8A94A6"/>
                </a:solidFill>
                <a:latin typeface="Segoe UI"/>
              </a:rPr>
              <a:t>Disease Prediction System  ·  Using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59752" y="6565392"/>
            <a:ext cx="45720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750" b="0" i="0">
                <a:solidFill>
                  <a:srgbClr val="8A94A6"/>
                </a:solidFill>
                <a:latin typeface="Segoe UI"/>
              </a:rPr>
              <a:t>MLC-2  |  CSE 3968  |  ITER, SOA University  |  May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15568"/>
            <a:ext cx="2181758" cy="868680"/>
          </a:xfrm>
          <a:prstGeom prst="roundRect">
            <a:avLst/>
          </a:prstGeom>
          <a:solidFill>
            <a:srgbClr val="171D2C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170432"/>
            <a:ext cx="2181758" cy="411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200" b="1" i="0">
                <a:solidFill>
                  <a:srgbClr val="FF6B2B"/>
                </a:solidFill>
                <a:latin typeface="Segoe UI Black"/>
              </a:rPr>
              <a:t>4,925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09344"/>
            <a:ext cx="2181758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00" b="0" i="0">
                <a:solidFill>
                  <a:srgbClr val="8A94A6"/>
                </a:solidFill>
                <a:latin typeface="Segoe UI"/>
              </a:rPr>
              <a:t>Records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30398" y="1115568"/>
            <a:ext cx="2181758" cy="868680"/>
          </a:xfrm>
          <a:prstGeom prst="roundRect">
            <a:avLst/>
          </a:prstGeom>
          <a:solidFill>
            <a:srgbClr val="171D2C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30398" y="1170432"/>
            <a:ext cx="2181758" cy="411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200" b="1" i="0">
                <a:solidFill>
                  <a:srgbClr val="2DCEBF"/>
                </a:solidFill>
                <a:latin typeface="Segoe UI Black"/>
              </a:rPr>
              <a:t>41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0398" y="1609344"/>
            <a:ext cx="2181758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00" b="0" i="0">
                <a:solidFill>
                  <a:srgbClr val="8A94A6"/>
                </a:solidFill>
                <a:latin typeface="Segoe UI"/>
              </a:rPr>
              <a:t>Disease Classes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03596" y="1115568"/>
            <a:ext cx="2181758" cy="868680"/>
          </a:xfrm>
          <a:prstGeom prst="roundRect">
            <a:avLst/>
          </a:prstGeom>
          <a:solidFill>
            <a:srgbClr val="171D2C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03596" y="1170432"/>
            <a:ext cx="2181758" cy="411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200" b="1" i="0">
                <a:solidFill>
                  <a:srgbClr val="FFB330"/>
                </a:solidFill>
                <a:latin typeface="Segoe UI Black"/>
              </a:rPr>
              <a:t>136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03596" y="1609344"/>
            <a:ext cx="2181758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00" b="0" i="0">
                <a:solidFill>
                  <a:srgbClr val="8A94A6"/>
                </a:solidFill>
                <a:latin typeface="Segoe UI"/>
              </a:rPr>
              <a:t>Symptom Cols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6795" y="1115568"/>
            <a:ext cx="2181758" cy="868680"/>
          </a:xfrm>
          <a:prstGeom prst="roundRect">
            <a:avLst/>
          </a:prstGeom>
          <a:solidFill>
            <a:srgbClr val="171D2C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76795" y="1170432"/>
            <a:ext cx="2181758" cy="411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200" b="1" i="0">
                <a:solidFill>
                  <a:srgbClr val="5BA8FF"/>
                </a:solidFill>
                <a:latin typeface="Segoe UI Black"/>
              </a:rPr>
              <a:t>+1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6795" y="1609344"/>
            <a:ext cx="2181758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00" b="0" i="0">
                <a:solidFill>
                  <a:srgbClr val="8A94A6"/>
                </a:solidFill>
                <a:latin typeface="Segoe UI"/>
              </a:rPr>
              <a:t>Age Feature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49993" y="1115568"/>
            <a:ext cx="2181758" cy="868680"/>
          </a:xfrm>
          <a:prstGeom prst="roundRect">
            <a:avLst/>
          </a:prstGeom>
          <a:solidFill>
            <a:srgbClr val="171D2C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49993" y="1170432"/>
            <a:ext cx="2181758" cy="411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200" b="1" i="0">
                <a:solidFill>
                  <a:srgbClr val="3DD68C"/>
                </a:solidFill>
                <a:latin typeface="Segoe UI Black"/>
              </a:rPr>
              <a:t>135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49993" y="1609344"/>
            <a:ext cx="2181758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00" b="0" i="0">
                <a:solidFill>
                  <a:srgbClr val="8A94A6"/>
                </a:solidFill>
                <a:latin typeface="Segoe UI"/>
              </a:rPr>
              <a:t>Final Features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2064" y="2203703"/>
            <a:ext cx="5285232" cy="3108960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2139696"/>
            <a:ext cx="5285232" cy="3108960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2194560"/>
            <a:ext cx="50292" cy="2999232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2304288"/>
            <a:ext cx="4846320" cy="310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F2F5FA"/>
                </a:solidFill>
                <a:latin typeface="Segoe UI Semibold"/>
              </a:rPr>
              <a:t>Severity-Weighted Encoding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2743200"/>
            <a:ext cx="4846320" cy="384048"/>
          </a:xfrm>
          <a:prstGeom prst="roundRect">
            <a:avLst/>
          </a:prstGeom>
          <a:solidFill>
            <a:srgbClr val="16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2825496"/>
            <a:ext cx="9144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50" b="1" i="0">
                <a:solidFill>
                  <a:srgbClr val="FF6B2B"/>
                </a:solidFill>
                <a:latin typeface="Segoe UI Semibold"/>
              </a:rPr>
              <a:t>Raw 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55648" y="2825496"/>
            <a:ext cx="361188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50" b="0" i="0">
                <a:solidFill>
                  <a:srgbClr val="C8D0DE"/>
                </a:solidFill>
                <a:latin typeface="Segoe UI"/>
              </a:rPr>
              <a:t>Up to 17 symptom names per patient record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3218688"/>
            <a:ext cx="4846320" cy="384048"/>
          </a:xfrm>
          <a:prstGeom prst="roundRect">
            <a:avLst/>
          </a:prstGeom>
          <a:solidFill>
            <a:srgbClr val="16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3300984"/>
            <a:ext cx="9144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50" b="1" i="0">
                <a:solidFill>
                  <a:srgbClr val="FF6B2B"/>
                </a:solidFill>
                <a:latin typeface="Segoe UI Semibold"/>
              </a:rPr>
              <a:t>Lookup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55648" y="3300984"/>
            <a:ext cx="361188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50" b="0" i="0">
                <a:solidFill>
                  <a:srgbClr val="C8D0DE"/>
                </a:solidFill>
                <a:latin typeface="Segoe UI"/>
              </a:rPr>
              <a:t>Severity dictionary: each symptom → weight 1–7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3694176"/>
            <a:ext cx="4846320" cy="384048"/>
          </a:xfrm>
          <a:prstGeom prst="roundRect">
            <a:avLst/>
          </a:prstGeom>
          <a:solidFill>
            <a:srgbClr val="16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3776472"/>
            <a:ext cx="9144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50" b="1" i="0">
                <a:solidFill>
                  <a:srgbClr val="FF6B2B"/>
                </a:solidFill>
                <a:latin typeface="Segoe UI Semibold"/>
              </a:rPr>
              <a:t>Encode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55648" y="3776472"/>
            <a:ext cx="361188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50" b="0" i="0">
                <a:solidFill>
                  <a:srgbClr val="C8D0DE"/>
                </a:solidFill>
                <a:latin typeface="Segoe UI"/>
              </a:rPr>
              <a:t>Build 136-col matrix; 0 = symptom absent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" y="4169664"/>
            <a:ext cx="4846320" cy="384048"/>
          </a:xfrm>
          <a:prstGeom prst="roundRect">
            <a:avLst/>
          </a:prstGeom>
          <a:solidFill>
            <a:srgbClr val="16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251960"/>
            <a:ext cx="9144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50" b="1" i="0">
                <a:solidFill>
                  <a:srgbClr val="FF6B2B"/>
                </a:solidFill>
                <a:latin typeface="Segoe UI Semibold"/>
              </a:rPr>
              <a:t>Dropout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55648" y="4251960"/>
            <a:ext cx="361188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50" b="0" i="0">
                <a:solidFill>
                  <a:srgbClr val="C8D0DE"/>
                </a:solidFill>
                <a:latin typeface="Segoe UI"/>
              </a:rPr>
              <a:t>Randomly zero 50% of non-zero entries (seed 42)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4645152"/>
            <a:ext cx="4846320" cy="384048"/>
          </a:xfrm>
          <a:prstGeom prst="roundRect">
            <a:avLst/>
          </a:prstGeom>
          <a:solidFill>
            <a:srgbClr val="16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8" y="4727448"/>
            <a:ext cx="9144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50" b="1" i="0">
                <a:solidFill>
                  <a:srgbClr val="FF6B2B"/>
                </a:solidFill>
                <a:latin typeface="Segoe UI Semibold"/>
              </a:rPr>
              <a:t>Filter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55648" y="4727448"/>
            <a:ext cx="361188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50" b="0" i="0">
                <a:solidFill>
                  <a:srgbClr val="C8D0DE"/>
                </a:solidFill>
                <a:latin typeface="Segoe UI"/>
              </a:rPr>
              <a:t>Remove zero-variance cols → 135 final features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08192" y="2203703"/>
            <a:ext cx="5596128" cy="3108960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053328" y="2139696"/>
            <a:ext cx="5596128" cy="3108960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53328" y="2194560"/>
            <a:ext cx="50292" cy="2999232"/>
          </a:xfrm>
          <a:prstGeom prst="rect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54496" y="2304288"/>
            <a:ext cx="5166360" cy="310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F2F5FA"/>
                </a:solidFill>
                <a:latin typeface="Segoe UI Semibold"/>
              </a:rPr>
              <a:t>Age-Aware Feature  (Novel Addition)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54496" y="2706624"/>
            <a:ext cx="5166360" cy="56692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8A94A6"/>
                </a:solidFill>
                <a:latin typeface="Segoe UI"/>
              </a:rPr>
              <a:t>Each disease has an epidemiological age range. A patient age is sampled from that range — giving the model demographic prior knowledge.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54496" y="3383280"/>
            <a:ext cx="5166360" cy="347472"/>
          </a:xfrm>
          <a:prstGeom prst="roundRect">
            <a:avLst/>
          </a:prstGeom>
          <a:solidFill>
            <a:srgbClr val="12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19088" y="3447288"/>
            <a:ext cx="2926080" cy="219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C8D0DE"/>
                </a:solidFill>
                <a:latin typeface="Segoe UI"/>
              </a:rPr>
              <a:t>Chicken pox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09760" y="3447288"/>
            <a:ext cx="1645920" cy="219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050" b="1" i="0">
                <a:solidFill>
                  <a:srgbClr val="2DCEBF"/>
                </a:solidFill>
                <a:latin typeface="Segoe UI"/>
              </a:rPr>
              <a:t>2 – 12 yrs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54496" y="3822191"/>
            <a:ext cx="5166360" cy="347472"/>
          </a:xfrm>
          <a:prstGeom prst="roundRect">
            <a:avLst/>
          </a:prstGeom>
          <a:solidFill>
            <a:srgbClr val="12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19088" y="3886200"/>
            <a:ext cx="2926080" cy="219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C8D0DE"/>
                </a:solidFill>
                <a:latin typeface="Segoe UI"/>
              </a:rPr>
              <a:t>Acne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09760" y="3886200"/>
            <a:ext cx="1645920" cy="219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050" b="1" i="0">
                <a:solidFill>
                  <a:srgbClr val="3DD68C"/>
                </a:solidFill>
                <a:latin typeface="Segoe UI"/>
              </a:rPr>
              <a:t>13 – 25 yrs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54496" y="4261104"/>
            <a:ext cx="5166360" cy="347472"/>
          </a:xfrm>
          <a:prstGeom prst="roundRect">
            <a:avLst/>
          </a:prstGeom>
          <a:solidFill>
            <a:srgbClr val="12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19088" y="4325112"/>
            <a:ext cx="2926080" cy="219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C8D0DE"/>
                </a:solidFill>
                <a:latin typeface="Segoe UI"/>
              </a:rPr>
              <a:t>Diabetes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09760" y="4325112"/>
            <a:ext cx="1645920" cy="219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050" b="1" i="0">
                <a:solidFill>
                  <a:srgbClr val="FFB330"/>
                </a:solidFill>
                <a:latin typeface="Segoe UI"/>
              </a:rPr>
              <a:t>35 – 75 yrs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54496" y="4700016"/>
            <a:ext cx="5166360" cy="347472"/>
          </a:xfrm>
          <a:prstGeom prst="roundRect">
            <a:avLst/>
          </a:prstGeom>
          <a:solidFill>
            <a:srgbClr val="12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19088" y="4764024"/>
            <a:ext cx="2926080" cy="219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C8D0DE"/>
                </a:solidFill>
                <a:latin typeface="Segoe UI"/>
              </a:rPr>
              <a:t>Heart attack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09760" y="4764024"/>
            <a:ext cx="1645920" cy="219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050" b="1" i="0">
                <a:solidFill>
                  <a:srgbClr val="F96B6B"/>
                </a:solidFill>
                <a:latin typeface="Segoe UI"/>
              </a:rPr>
              <a:t>45 – 80 yrs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54496" y="5138928"/>
            <a:ext cx="5166360" cy="347472"/>
          </a:xfrm>
          <a:prstGeom prst="roundRect">
            <a:avLst/>
          </a:prstGeom>
          <a:solidFill>
            <a:srgbClr val="121C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19088" y="5202936"/>
            <a:ext cx="2926080" cy="219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C8D0DE"/>
                </a:solidFill>
                <a:latin typeface="Segoe UI"/>
              </a:rPr>
              <a:t>Malaria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5202936"/>
            <a:ext cx="1645920" cy="219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050" b="1" i="0">
                <a:solidFill>
                  <a:srgbClr val="5BA8FF"/>
                </a:solidFill>
                <a:latin typeface="Segoe UI"/>
              </a:rPr>
              <a:t>5  – 65 yrs</a:t>
            </a:r>
          </a:p>
        </p:txBody>
      </p:sp>
    </p:spTree>
  </p:cSld>
  <p:clrMapOvr>
    <a:masterClrMapping/>
  </p:clrMapOvr>
  <p:timing>
    <p:tnLst>
      <p:par>
        <p:cTn id="101" dur="indefinite" restart="whenNotActive" nodeType="tmRoot">
          <p:childTnLst>
            <p:seq concurrent="1" nextAc="seek">
              <p:cTn id="102" dur="indefinite" nodeType="mainSeq">
                <p:childTnLst>
                  <p:par>
                    <p:cTn id="103" fill="hold" nodeType="afterEffect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6" dur="4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afterEffect">
                      <p:stCondLst>
                        <p:cond delay="9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0" dur="4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 nodeType="afterEffect">
                      <p:stCondLst>
                        <p:cond delay="18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4" dur="4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afterEffect">
                      <p:stCondLst>
                        <p:cond delay="270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8" dur="4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 nodeType="afterEffect">
                      <p:stCondLst>
                        <p:cond delay="360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2" dur="4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 nodeType="afterEffect">
                      <p:stCondLst>
                        <p:cond delay="15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6" dur="5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 nodeType="afterEffect">
                      <p:stCondLst>
                        <p:cond delay="280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0" dur="5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n val="102"/>
                </p:cond>
              </p:nextCondLst>
            </p:seq>
          </p:childTnLst>
        </p:cTn>
      </p:par>
    </p:tnLst>
  </p:timing>
  <p:transition dur="650">
    <p:wipe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5B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128016"/>
            <a:ext cx="1522476" cy="274320"/>
          </a:xfrm>
          <a:prstGeom prst="round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137160"/>
            <a:ext cx="320040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50" b="1" i="0">
                <a:solidFill>
                  <a:srgbClr val="070B14"/>
                </a:solidFill>
                <a:latin typeface="Segoe UI Semibold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74552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800" b="1" i="0">
                <a:solidFill>
                  <a:srgbClr val="F2F5FA"/>
                </a:solidFill>
                <a:latin typeface="Segoe UI Semibold"/>
              </a:rPr>
              <a:t>End-to-End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96112"/>
            <a:ext cx="9245132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Segoe UI"/>
              </a:rPr>
              <a:t>A linear flow from raw CSVs to model-ready feature matrix and validated predictions.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28816"/>
            <a:ext cx="12188952" cy="9144"/>
          </a:xfrm>
          <a:prstGeom prst="rect">
            <a:avLst/>
          </a:prstGeom>
          <a:solidFill>
            <a:srgbClr val="282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50" b="0" i="0">
                <a:solidFill>
                  <a:srgbClr val="8A94A6"/>
                </a:solidFill>
                <a:latin typeface="Segoe UI"/>
              </a:rPr>
              <a:t>Disease Prediction System  ·  Using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59752" y="6565392"/>
            <a:ext cx="45720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750" b="0" i="0">
                <a:solidFill>
                  <a:srgbClr val="8A94A6"/>
                </a:solidFill>
                <a:latin typeface="Segoe UI"/>
              </a:rPr>
              <a:t>MLC-2  |  CSE 3968  |  ITER, SOA University  |  May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" y="1225296"/>
            <a:ext cx="3575304" cy="138988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161288"/>
            <a:ext cx="3575304" cy="138988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216152"/>
            <a:ext cx="50292" cy="128016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1362456"/>
            <a:ext cx="365760" cy="365760"/>
          </a:xfrm>
          <a:prstGeom prst="ellipse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417320"/>
            <a:ext cx="36576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00" b="1" i="0">
                <a:solidFill>
                  <a:srgbClr val="070B14"/>
                </a:solidFill>
                <a:latin typeface="Segoe UI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1325880"/>
            <a:ext cx="2706624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1" i="0">
                <a:solidFill>
                  <a:srgbClr val="F2F5FA"/>
                </a:solidFill>
                <a:latin typeface="Segoe UI Semibold"/>
              </a:rPr>
              <a:t>Load CSVs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1709928"/>
            <a:ext cx="3255264" cy="74980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8A94A6"/>
                </a:solidFill>
                <a:latin typeface="Segoe UI"/>
              </a:rPr>
              <a:t>disease_raw.csv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8A94A6"/>
                </a:solidFill>
                <a:latin typeface="Segoe UI"/>
              </a:rPr>
              <a:t>+ symptom_severity.csv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9080" y="1856232"/>
            <a:ext cx="201168" cy="0"/>
          </a:xfrm>
          <a:prstGeom prst="line">
            <a:avLst/>
          </a:prstGeom>
          <a:ln w="19050">
            <a:solidFill>
              <a:srgbClr val="FF6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361688" y="1225296"/>
            <a:ext cx="3575304" cy="138988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06824" y="1161288"/>
            <a:ext cx="3575304" cy="138988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06824" y="1216152"/>
            <a:ext cx="50292" cy="1280160"/>
          </a:xfrm>
          <a:prstGeom prst="rect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89704" y="1362456"/>
            <a:ext cx="365760" cy="365760"/>
          </a:xfrm>
          <a:prstGeom prst="ellipse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1417320"/>
            <a:ext cx="36576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00" b="1" i="0">
                <a:solidFill>
                  <a:srgbClr val="070B14"/>
                </a:solidFill>
                <a:latin typeface="Segoe U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0056" y="1325880"/>
            <a:ext cx="2706624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1" i="0">
                <a:solidFill>
                  <a:srgbClr val="F2F5FA"/>
                </a:solidFill>
                <a:latin typeface="Segoe UI Semibold"/>
              </a:rPr>
              <a:t>Build Feature Matrix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7992" y="1709928"/>
            <a:ext cx="3255264" cy="74980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8A94A6"/>
                </a:solidFill>
                <a:latin typeface="Segoe UI"/>
              </a:rPr>
              <a:t>136-col severity-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8A94A6"/>
                </a:solidFill>
                <a:latin typeface="Segoe UI"/>
              </a:rPr>
              <a:t>weighted symptom cols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918704" y="1856232"/>
            <a:ext cx="201168" cy="0"/>
          </a:xfrm>
          <a:prstGeom prst="line">
            <a:avLst/>
          </a:prstGeom>
          <a:ln w="19050">
            <a:solidFill>
              <a:srgbClr val="FF6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211312" y="1225296"/>
            <a:ext cx="3575304" cy="138988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56448" y="1161288"/>
            <a:ext cx="3575304" cy="138988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56448" y="1216152"/>
            <a:ext cx="50292" cy="1280160"/>
          </a:xfrm>
          <a:prstGeom prst="rect">
            <a:avLst/>
          </a:prstGeom>
          <a:solidFill>
            <a:srgbClr val="5B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339327" y="1362456"/>
            <a:ext cx="365760" cy="365760"/>
          </a:xfrm>
          <a:prstGeom prst="ellipse">
            <a:avLst/>
          </a:prstGeom>
          <a:solidFill>
            <a:srgbClr val="5B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9327" y="1417320"/>
            <a:ext cx="36576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00" b="1" i="0">
                <a:solidFill>
                  <a:srgbClr val="070B14"/>
                </a:solidFill>
                <a:latin typeface="Segoe U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1325880"/>
            <a:ext cx="2706624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1" i="0">
                <a:solidFill>
                  <a:srgbClr val="F2F5FA"/>
                </a:solidFill>
                <a:latin typeface="Segoe UI Semibold"/>
              </a:rPr>
              <a:t>Add Age Feature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1709928"/>
            <a:ext cx="3255264" cy="74980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8A94A6"/>
                </a:solidFill>
                <a:latin typeface="Segoe UI"/>
              </a:rPr>
              <a:t>Sample from epidemio-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8A94A6"/>
                </a:solidFill>
                <a:latin typeface="Segoe UI"/>
              </a:rPr>
              <a:t>logical age range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2064" y="2807208"/>
            <a:ext cx="3575304" cy="138988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7200" y="2743200"/>
            <a:ext cx="3575304" cy="138988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2798064"/>
            <a:ext cx="50292" cy="1280160"/>
          </a:xfrm>
          <a:prstGeom prst="rect">
            <a:avLst/>
          </a:prstGeom>
          <a:solidFill>
            <a:srgbClr val="FFB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40080" y="2944368"/>
            <a:ext cx="365760" cy="365760"/>
          </a:xfrm>
          <a:prstGeom prst="ellipse">
            <a:avLst/>
          </a:prstGeom>
          <a:solidFill>
            <a:srgbClr val="FFB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2999232"/>
            <a:ext cx="36576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00" b="1" i="0">
                <a:solidFill>
                  <a:srgbClr val="070B14"/>
                </a:solidFill>
                <a:latin typeface="Segoe UI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70432" y="2907792"/>
            <a:ext cx="2706624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1" i="0">
                <a:solidFill>
                  <a:srgbClr val="F2F5FA"/>
                </a:solidFill>
                <a:latin typeface="Segoe UI Semibold"/>
              </a:rPr>
              <a:t>50% Symptom Dropout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3291840"/>
            <a:ext cx="3255264" cy="74980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8A94A6"/>
                </a:solidFill>
                <a:latin typeface="Segoe UI"/>
              </a:rPr>
              <a:t>Simulate incomplete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8A94A6"/>
                </a:solidFill>
                <a:latin typeface="Segoe UI"/>
              </a:rPr>
              <a:t>clinical reporting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069080" y="3438144"/>
            <a:ext cx="201168" cy="0"/>
          </a:xfrm>
          <a:prstGeom prst="line">
            <a:avLst/>
          </a:prstGeom>
          <a:ln w="19050">
            <a:solidFill>
              <a:srgbClr val="FF6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4361688" y="2807208"/>
            <a:ext cx="3575304" cy="138988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306824" y="2743200"/>
            <a:ext cx="3575304" cy="138988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06824" y="2798064"/>
            <a:ext cx="50292" cy="1280160"/>
          </a:xfrm>
          <a:prstGeom prst="rect">
            <a:avLst/>
          </a:prstGeom>
          <a:solidFill>
            <a:srgbClr val="BD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489704" y="2944368"/>
            <a:ext cx="365760" cy="365760"/>
          </a:xfrm>
          <a:prstGeom prst="ellipse">
            <a:avLst/>
          </a:prstGeom>
          <a:solidFill>
            <a:srgbClr val="BD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9704" y="2999232"/>
            <a:ext cx="36576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00" b="1" i="0">
                <a:solidFill>
                  <a:srgbClr val="070B14"/>
                </a:solidFill>
                <a:latin typeface="Segoe UI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0056" y="2907792"/>
            <a:ext cx="2706624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1" i="0">
                <a:solidFill>
                  <a:srgbClr val="F2F5FA"/>
                </a:solidFill>
                <a:latin typeface="Segoe UI Semibold"/>
              </a:rPr>
              <a:t>Label Encode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07992" y="3291840"/>
            <a:ext cx="3255264" cy="74980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8A94A6"/>
                </a:solidFill>
                <a:latin typeface="Segoe UI"/>
              </a:rPr>
              <a:t>prognosis → integer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8A94A6"/>
                </a:solidFill>
                <a:latin typeface="Segoe UI"/>
              </a:rPr>
              <a:t>class index (41 cls)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918704" y="3438144"/>
            <a:ext cx="201168" cy="0"/>
          </a:xfrm>
          <a:prstGeom prst="line">
            <a:avLst/>
          </a:prstGeom>
          <a:ln w="19050">
            <a:solidFill>
              <a:srgbClr val="FF6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8211312" y="2807208"/>
            <a:ext cx="3575304" cy="138988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156448" y="2743200"/>
            <a:ext cx="3575304" cy="138988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156448" y="2798064"/>
            <a:ext cx="50292" cy="1280160"/>
          </a:xfrm>
          <a:prstGeom prst="rect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339327" y="2944368"/>
            <a:ext cx="365760" cy="365760"/>
          </a:xfrm>
          <a:prstGeom prst="ellipse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39327" y="2999232"/>
            <a:ext cx="36576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00" b="1" i="0">
                <a:solidFill>
                  <a:srgbClr val="070B14"/>
                </a:solidFill>
                <a:latin typeface="Segoe UI"/>
              </a:rP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69680" y="2907792"/>
            <a:ext cx="2706624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1" i="0">
                <a:solidFill>
                  <a:srgbClr val="F2F5FA"/>
                </a:solidFill>
                <a:latin typeface="Segoe UI Semibold"/>
              </a:rPr>
              <a:t>Stratified Split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57616" y="3291840"/>
            <a:ext cx="3255264" cy="74980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8A94A6"/>
                </a:solidFill>
                <a:latin typeface="Segoe UI"/>
              </a:rPr>
              <a:t>80/20 · 3,940 train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8A94A6"/>
                </a:solidFill>
                <a:latin typeface="Segoe UI"/>
              </a:rPr>
              <a:t>985 test samples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12064" y="4379976"/>
            <a:ext cx="3575304" cy="138988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57200" y="4315968"/>
            <a:ext cx="3575304" cy="138988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7200" y="4370831"/>
            <a:ext cx="50292" cy="1280160"/>
          </a:xfrm>
          <a:prstGeom prst="rect">
            <a:avLst/>
          </a:prstGeom>
          <a:solidFill>
            <a:srgbClr val="F9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40080" y="4517136"/>
            <a:ext cx="365760" cy="365760"/>
          </a:xfrm>
          <a:prstGeom prst="ellipse">
            <a:avLst/>
          </a:prstGeom>
          <a:solidFill>
            <a:srgbClr val="F9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4572000"/>
            <a:ext cx="36576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00" b="1" i="0">
                <a:solidFill>
                  <a:srgbClr val="070B14"/>
                </a:solidFill>
                <a:latin typeface="Segoe UI"/>
              </a:rP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70432" y="4480559"/>
            <a:ext cx="2706624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1" i="0">
                <a:solidFill>
                  <a:srgbClr val="F2F5FA"/>
                </a:solidFill>
                <a:latin typeface="Segoe UI Semibold"/>
              </a:rPr>
              <a:t>Variance Filter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" y="4864607"/>
            <a:ext cx="3255264" cy="74980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8A94A6"/>
                </a:solidFill>
                <a:latin typeface="Segoe UI"/>
              </a:rPr>
              <a:t>Remove zero-var cols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8A94A6"/>
                </a:solidFill>
                <a:latin typeface="Segoe UI"/>
              </a:rPr>
              <a:t>→ 135 final features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069080" y="5010912"/>
            <a:ext cx="201168" cy="0"/>
          </a:xfrm>
          <a:prstGeom prst="line">
            <a:avLst/>
          </a:prstGeom>
          <a:ln w="19050">
            <a:solidFill>
              <a:srgbClr val="FF6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4361688" y="4379976"/>
            <a:ext cx="3575304" cy="138988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306824" y="4315968"/>
            <a:ext cx="3575304" cy="138988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306824" y="4370831"/>
            <a:ext cx="50292" cy="128016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489704" y="4517136"/>
            <a:ext cx="365760" cy="365760"/>
          </a:xfrm>
          <a:prstGeom prst="ellipse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489704" y="4572000"/>
            <a:ext cx="36576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00" b="1" i="0">
                <a:solidFill>
                  <a:srgbClr val="070B14"/>
                </a:solidFill>
                <a:latin typeface="Segoe UI"/>
              </a:rPr>
              <a:t>08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20056" y="4480559"/>
            <a:ext cx="2706624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1" i="0">
                <a:solidFill>
                  <a:srgbClr val="F2F5FA"/>
                </a:solidFill>
                <a:latin typeface="Segoe UI Semibold"/>
              </a:rPr>
              <a:t>Train 4 Classifiers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07992" y="4864607"/>
            <a:ext cx="3255264" cy="74980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8A94A6"/>
                </a:solidFill>
                <a:latin typeface="Segoe UI"/>
              </a:rPr>
              <a:t>DT · RF(200) · XGB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8A94A6"/>
                </a:solidFill>
                <a:latin typeface="Segoe UI"/>
              </a:rPr>
              <a:t>· Stacking Ensemble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7918704" y="5010912"/>
            <a:ext cx="201168" cy="0"/>
          </a:xfrm>
          <a:prstGeom prst="line">
            <a:avLst/>
          </a:prstGeom>
          <a:ln w="19050">
            <a:solidFill>
              <a:srgbClr val="FF6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8211312" y="4379976"/>
            <a:ext cx="3575304" cy="138988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156448" y="4315968"/>
            <a:ext cx="3575304" cy="138988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156448" y="4370831"/>
            <a:ext cx="50292" cy="1280160"/>
          </a:xfrm>
          <a:prstGeom prst="rect">
            <a:avLst/>
          </a:prstGeom>
          <a:solidFill>
            <a:srgbClr val="A8E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339327" y="4517136"/>
            <a:ext cx="365760" cy="365760"/>
          </a:xfrm>
          <a:prstGeom prst="ellipse">
            <a:avLst/>
          </a:prstGeom>
          <a:solidFill>
            <a:srgbClr val="A8E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39327" y="4572000"/>
            <a:ext cx="36576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00" b="1" i="0">
                <a:solidFill>
                  <a:srgbClr val="070B14"/>
                </a:solidFill>
                <a:latin typeface="Segoe UI"/>
              </a:rPr>
              <a:t>09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4480559"/>
            <a:ext cx="2706624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1" i="0">
                <a:solidFill>
                  <a:srgbClr val="F2F5FA"/>
                </a:solidFill>
                <a:latin typeface="Segoe UI Semibold"/>
              </a:rPr>
              <a:t>Evaluate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57616" y="4864607"/>
            <a:ext cx="3255264" cy="74980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8A94A6"/>
                </a:solidFill>
                <a:latin typeface="Segoe UI"/>
              </a:rPr>
              <a:t>Accuracy · F1 · Precision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8A94A6"/>
                </a:solidFill>
                <a:latin typeface="Segoe UI"/>
              </a:rPr>
              <a:t>Recall · CM ✓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57200" y="5907024"/>
            <a:ext cx="11274552" cy="329184"/>
          </a:xfrm>
          <a:prstGeom prst="roundRect">
            <a:avLst/>
          </a:prstGeom>
          <a:solidFill>
            <a:srgbClr val="171D2C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5943600"/>
            <a:ext cx="10872216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0">
                <a:solidFill>
                  <a:srgbClr val="8A94A6"/>
                </a:solidFill>
                <a:latin typeface="Segoe UI"/>
              </a:rPr>
              <a:t>Design goal: every preprocessing step preserves interpretable medical signal.</a:t>
            </a:r>
          </a:p>
        </p:txBody>
      </p:sp>
    </p:spTree>
  </p:cSld>
  <p:clrMapOvr>
    <a:masterClrMapping/>
  </p:clrMapOvr>
  <p:timing>
    <p:tnLst>
      <p:par>
        <p:cTn id="101" dur="indefinite" restart="whenNotActive" nodeType="tmRoot">
          <p:childTnLst>
            <p:seq concurrent="1" nextAc="seek">
              <p:cTn id="102" dur="indefinite" nodeType="mainSeq">
                <p:childTnLst>
                  <p:par>
                    <p:cTn id="103" fill="hold" nodeType="afterEffect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6" dur="43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afterEffect">
                      <p:stCondLst>
                        <p:cond delay="10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0" dur="43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 nodeType="afterEffect">
                      <p:stCondLst>
                        <p:cond delay="20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4" dur="43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afterEffect">
                      <p:stCondLst>
                        <p:cond delay="300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8" dur="43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 nodeType="afterEffect">
                      <p:stCondLst>
                        <p:cond delay="400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2" dur="43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 nodeType="afterEffect">
                      <p:stCondLst>
                        <p:cond delay="50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6" dur="43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 nodeType="afterEffect">
                      <p:stCondLst>
                        <p:cond delay="600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0" dur="43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 nodeType="afterEffect">
                      <p:stCondLst>
                        <p:cond delay="700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4" dur="43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 nodeType="afterEffect">
                      <p:stCondLst>
                        <p:cond delay="800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8" dur="43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n val="102"/>
                </p:cond>
              </p:nextCondLst>
            </p:seq>
          </p:childTnLst>
        </p:cTn>
      </p:par>
    </p:tnLst>
  </p:timing>
  <p:transition dur="650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BD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128016"/>
            <a:ext cx="996696" cy="274320"/>
          </a:xfrm>
          <a:prstGeom prst="round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137160"/>
            <a:ext cx="320040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50" b="1" i="0">
                <a:solidFill>
                  <a:srgbClr val="070B14"/>
                </a:solidFill>
                <a:latin typeface="Segoe UI Semibold"/>
              </a:rPr>
              <a:t>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74552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800" b="1" i="0">
                <a:solidFill>
                  <a:srgbClr val="F2F5FA"/>
                </a:solidFill>
                <a:latin typeface="Segoe UI Semibold"/>
              </a:rPr>
              <a:t>Four Classifier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96112"/>
            <a:ext cx="9245132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Segoe UI"/>
              </a:rPr>
              <a:t>A progression from interpretable baseline to meta-learning stacked ensemble.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28816"/>
            <a:ext cx="12188952" cy="9144"/>
          </a:xfrm>
          <a:prstGeom prst="rect">
            <a:avLst/>
          </a:prstGeom>
          <a:solidFill>
            <a:srgbClr val="282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50" b="0" i="0">
                <a:solidFill>
                  <a:srgbClr val="8A94A6"/>
                </a:solidFill>
                <a:latin typeface="Segoe UI"/>
              </a:rPr>
              <a:t>Disease Prediction System  ·  Using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59752" y="6565392"/>
            <a:ext cx="45720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750" b="0" i="0">
                <a:solidFill>
                  <a:srgbClr val="8A94A6"/>
                </a:solidFill>
                <a:latin typeface="Segoe UI"/>
              </a:rPr>
              <a:t>MLC-2  |  CSE 3968  |  ITER, SOA University  |  May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" y="1179576"/>
            <a:ext cx="2647188" cy="4645152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115568"/>
            <a:ext cx="2647188" cy="4645152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170432"/>
            <a:ext cx="50292" cy="4535424"/>
          </a:xfrm>
          <a:prstGeom prst="rect">
            <a:avLst/>
          </a:prstGeom>
          <a:solidFill>
            <a:srgbClr val="F9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1115568"/>
            <a:ext cx="2647188" cy="777240"/>
          </a:xfrm>
          <a:prstGeom prst="roundRect">
            <a:avLst/>
          </a:prstGeom>
          <a:solidFill>
            <a:srgbClr val="F9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133856"/>
            <a:ext cx="2647188" cy="34747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300" b="1" i="0">
                <a:solidFill>
                  <a:srgbClr val="070B14"/>
                </a:solidFill>
                <a:latin typeface="Segoe UI Semibold"/>
              </a:rPr>
              <a:t>Decision Tree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93391"/>
            <a:ext cx="2647188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200" b="1" i="0">
                <a:solidFill>
                  <a:srgbClr val="F96B6B"/>
                </a:solidFill>
                <a:latin typeface="Segoe UI Black"/>
              </a:rPr>
              <a:t>85.58%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23594" y="2468880"/>
            <a:ext cx="1024128" cy="246888"/>
          </a:xfrm>
          <a:prstGeom prst="roundRect">
            <a:avLst/>
          </a:prstGeom>
          <a:solidFill>
            <a:srgbClr val="F96B6B"/>
          </a:solidFill>
          <a:ln>
            <a:noFill/>
          </a:ln>
          <a:effectLst>
            <a:outerShdw blurRad="40000" dist="12000" dir="5400000" algn="tl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33322" y="2505456"/>
            <a:ext cx="859536" cy="16459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780" b="1" i="0">
                <a:solidFill>
                  <a:srgbClr val="070B14"/>
                </a:solidFill>
                <a:latin typeface="Segoe UI Semibold"/>
              </a:rPr>
              <a:t>Baseline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" y="3017520"/>
            <a:ext cx="2391156" cy="457200"/>
          </a:xfrm>
          <a:prstGeom prst="roundRect">
            <a:avLst/>
          </a:prstGeom>
          <a:solidFill>
            <a:srgbClr val="16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108960"/>
            <a:ext cx="228142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▸  criterion = gini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3566160"/>
            <a:ext cx="2391156" cy="457200"/>
          </a:xfrm>
          <a:prstGeom prst="roundRect">
            <a:avLst/>
          </a:prstGeom>
          <a:solidFill>
            <a:srgbClr val="16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657600"/>
            <a:ext cx="228142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▸  No depth limit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114800"/>
            <a:ext cx="2391156" cy="457200"/>
          </a:xfrm>
          <a:prstGeom prst="roundRect">
            <a:avLst/>
          </a:prstGeom>
          <a:solidFill>
            <a:srgbClr val="16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4206240"/>
            <a:ext cx="228142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▸  Fast &amp; interpretable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" y="4663440"/>
            <a:ext cx="2391156" cy="457200"/>
          </a:xfrm>
          <a:prstGeom prst="roundRect">
            <a:avLst/>
          </a:prstGeom>
          <a:solidFill>
            <a:srgbClr val="16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4754879"/>
            <a:ext cx="228142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▸  Overfits on dropout noise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7852" y="1179576"/>
            <a:ext cx="2647188" cy="4645152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32988" y="1115568"/>
            <a:ext cx="2647188" cy="4645152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332988" y="1170432"/>
            <a:ext cx="50292" cy="4535424"/>
          </a:xfrm>
          <a:prstGeom prst="rect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332988" y="1115568"/>
            <a:ext cx="2647188" cy="777240"/>
          </a:xfrm>
          <a:prstGeom prst="roundRect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2988" y="1133856"/>
            <a:ext cx="2647188" cy="34747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300" b="1" i="0">
                <a:solidFill>
                  <a:srgbClr val="070B14"/>
                </a:solidFill>
                <a:latin typeface="Segoe UI Semibold"/>
              </a:rPr>
              <a:t>Random Forest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32988" y="1463040"/>
            <a:ext cx="264718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1" i="0">
                <a:solidFill>
                  <a:srgbClr val="070B14"/>
                </a:solidFill>
                <a:latin typeface="Segoe UI Semibold"/>
              </a:rPr>
              <a:t>(200 trees)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32988" y="1993391"/>
            <a:ext cx="2647188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200" b="1" i="0">
                <a:solidFill>
                  <a:srgbClr val="2DCEBF"/>
                </a:solidFill>
                <a:latin typeface="Segoe UI Black"/>
              </a:rPr>
              <a:t>93.30%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99382" y="2468880"/>
            <a:ext cx="850392" cy="246888"/>
          </a:xfrm>
          <a:prstGeom prst="roundRect">
            <a:avLst/>
          </a:prstGeom>
          <a:solidFill>
            <a:srgbClr val="2DCEBF"/>
          </a:solidFill>
          <a:ln>
            <a:noFill/>
          </a:ln>
          <a:effectLst>
            <a:outerShdw blurRad="40000" dist="12000" dir="5400000" algn="tl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09110" y="2505456"/>
            <a:ext cx="685800" cy="16459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780" b="1" i="0">
                <a:solidFill>
                  <a:srgbClr val="070B14"/>
                </a:solidFill>
                <a:latin typeface="Segoe UI Semibold"/>
              </a:rPr>
              <a:t>Stable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97580" y="3017520"/>
            <a:ext cx="2391156" cy="457200"/>
          </a:xfrm>
          <a:prstGeom prst="roundRect">
            <a:avLst/>
          </a:prstGeom>
          <a:solidFill>
            <a:srgbClr val="16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89020" y="3108960"/>
            <a:ext cx="228142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▸  200 estimators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97580" y="3566160"/>
            <a:ext cx="2391156" cy="457200"/>
          </a:xfrm>
          <a:prstGeom prst="roundRect">
            <a:avLst/>
          </a:prstGeom>
          <a:solidFill>
            <a:srgbClr val="16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89020" y="3657600"/>
            <a:ext cx="228142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▸  Parallel bagging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497580" y="4114800"/>
            <a:ext cx="2391156" cy="457200"/>
          </a:xfrm>
          <a:prstGeom prst="roundRect">
            <a:avLst/>
          </a:prstGeom>
          <a:solidFill>
            <a:srgbClr val="16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89020" y="4206240"/>
            <a:ext cx="228142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▸  Feature importance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97580" y="4663440"/>
            <a:ext cx="2391156" cy="457200"/>
          </a:xfrm>
          <a:prstGeom prst="roundRect">
            <a:avLst/>
          </a:prstGeom>
          <a:solidFill>
            <a:srgbClr val="16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89020" y="4754879"/>
            <a:ext cx="228142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▸  Smooths dropout noise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63640" y="1179576"/>
            <a:ext cx="2647188" cy="4645152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208776" y="1115568"/>
            <a:ext cx="2647188" cy="4645152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08776" y="1170432"/>
            <a:ext cx="50292" cy="4535424"/>
          </a:xfrm>
          <a:prstGeom prst="rect">
            <a:avLst/>
          </a:prstGeom>
          <a:solidFill>
            <a:srgbClr val="5B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208776" y="1115568"/>
            <a:ext cx="2647188" cy="777240"/>
          </a:xfrm>
          <a:prstGeom prst="roundRect">
            <a:avLst/>
          </a:prstGeom>
          <a:solidFill>
            <a:srgbClr val="5B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08776" y="1133856"/>
            <a:ext cx="2647188" cy="34747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300" b="1" i="0">
                <a:solidFill>
                  <a:srgbClr val="070B14"/>
                </a:solidFill>
                <a:latin typeface="Segoe UI Semibold"/>
              </a:rPr>
              <a:t>XGBoost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08776" y="1993391"/>
            <a:ext cx="2647188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200" b="1" i="0">
                <a:solidFill>
                  <a:srgbClr val="5BA8FF"/>
                </a:solidFill>
                <a:latin typeface="Segoe UI Black"/>
              </a:rPr>
              <a:t>91.47%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075170" y="2468880"/>
            <a:ext cx="937259" cy="246888"/>
          </a:xfrm>
          <a:prstGeom prst="roundRect">
            <a:avLst/>
          </a:prstGeom>
          <a:solidFill>
            <a:srgbClr val="5BA8FF"/>
          </a:solidFill>
          <a:ln>
            <a:noFill/>
          </a:ln>
          <a:effectLst>
            <a:outerShdw blurRad="40000" dist="12000" dir="5400000" algn="tl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84898" y="2505456"/>
            <a:ext cx="772668" cy="16459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780" b="1" i="0">
                <a:solidFill>
                  <a:srgbClr val="070B14"/>
                </a:solidFill>
                <a:latin typeface="Segoe UI Semibold"/>
              </a:rPr>
              <a:t>Boosted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73368" y="3017520"/>
            <a:ext cx="2391156" cy="457200"/>
          </a:xfrm>
          <a:prstGeom prst="roundRect">
            <a:avLst/>
          </a:prstGeom>
          <a:solidFill>
            <a:srgbClr val="16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64808" y="3108960"/>
            <a:ext cx="228142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▸  100 trees, lr=0.1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73368" y="3566160"/>
            <a:ext cx="2391156" cy="457200"/>
          </a:xfrm>
          <a:prstGeom prst="roundRect">
            <a:avLst/>
          </a:prstGeom>
          <a:solidFill>
            <a:srgbClr val="16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64808" y="3657600"/>
            <a:ext cx="228142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▸  max_depth=6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73368" y="4114800"/>
            <a:ext cx="2391156" cy="457200"/>
          </a:xfrm>
          <a:prstGeom prst="roundRect">
            <a:avLst/>
          </a:prstGeom>
          <a:solidFill>
            <a:srgbClr val="16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64808" y="4206240"/>
            <a:ext cx="228142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▸  mlogloss eval metric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373368" y="4663440"/>
            <a:ext cx="2391156" cy="457200"/>
          </a:xfrm>
          <a:prstGeom prst="roundRect">
            <a:avLst/>
          </a:prstGeom>
          <a:solidFill>
            <a:srgbClr val="16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64808" y="4754879"/>
            <a:ext cx="228142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▸  Sequential residuals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39428" y="1179576"/>
            <a:ext cx="2647188" cy="4919472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9084564" y="1115568"/>
            <a:ext cx="2647188" cy="4919472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9084564" y="1170432"/>
            <a:ext cx="50292" cy="4809744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084564" y="1115568"/>
            <a:ext cx="2647188" cy="777240"/>
          </a:xfrm>
          <a:prstGeom prst="round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84564" y="1133856"/>
            <a:ext cx="2647188" cy="34747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300" b="1" i="0">
                <a:solidFill>
                  <a:srgbClr val="070B14"/>
                </a:solidFill>
                <a:latin typeface="Segoe UI Semibold"/>
              </a:rPr>
              <a:t>Stacking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84564" y="1463040"/>
            <a:ext cx="264718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1" i="0">
                <a:solidFill>
                  <a:srgbClr val="070B14"/>
                </a:solidFill>
                <a:latin typeface="Segoe UI Semibold"/>
              </a:rPr>
              <a:t>Ensemble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84564" y="1993391"/>
            <a:ext cx="2647188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200" b="1" i="0">
                <a:solidFill>
                  <a:srgbClr val="FF6B2B"/>
                </a:solidFill>
                <a:latin typeface="Segoe UI Black"/>
              </a:rPr>
              <a:t>93.50%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950958" y="2468880"/>
            <a:ext cx="850392" cy="246888"/>
          </a:xfrm>
          <a:prstGeom prst="roundRect">
            <a:avLst/>
          </a:prstGeom>
          <a:solidFill>
            <a:srgbClr val="FF6B2B"/>
          </a:solidFill>
          <a:ln>
            <a:noFill/>
          </a:ln>
          <a:effectLst>
            <a:outerShdw blurRad="40000" dist="12000" dir="5400000" algn="tl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060686" y="2505456"/>
            <a:ext cx="685800" cy="16459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780" b="1" i="0">
                <a:solidFill>
                  <a:srgbClr val="070B14"/>
                </a:solidFill>
                <a:latin typeface="Segoe UI Semibold"/>
              </a:rPr>
              <a:t>★ BEST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249156" y="3017520"/>
            <a:ext cx="2391156" cy="457200"/>
          </a:xfrm>
          <a:prstGeom prst="roundRect">
            <a:avLst/>
          </a:prstGeom>
          <a:solidFill>
            <a:srgbClr val="16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40596" y="3108960"/>
            <a:ext cx="228142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▸  DT + RF + XGB base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249156" y="3566160"/>
            <a:ext cx="2391156" cy="457200"/>
          </a:xfrm>
          <a:prstGeom prst="roundRect">
            <a:avLst/>
          </a:prstGeom>
          <a:solidFill>
            <a:srgbClr val="16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340596" y="3657600"/>
            <a:ext cx="228142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▸  LR meta-learner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249156" y="4114800"/>
            <a:ext cx="2391156" cy="457200"/>
          </a:xfrm>
          <a:prstGeom prst="roundRect">
            <a:avLst/>
          </a:prstGeom>
          <a:solidFill>
            <a:srgbClr val="16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340596" y="4206240"/>
            <a:ext cx="228142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▸  passthrough=True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249156" y="4663440"/>
            <a:ext cx="2391156" cy="457200"/>
          </a:xfrm>
          <a:prstGeom prst="roundRect">
            <a:avLst/>
          </a:prstGeom>
          <a:solidFill>
            <a:srgbClr val="16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340596" y="4754879"/>
            <a:ext cx="228142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▸  5-fold stratified CV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267444" y="5532120"/>
            <a:ext cx="2281428" cy="310896"/>
          </a:xfrm>
          <a:prstGeom prst="roundRect">
            <a:avLst/>
          </a:prstGeom>
          <a:solidFill>
            <a:srgbClr val="FF6B2B"/>
          </a:solidFill>
          <a:ln>
            <a:noFill/>
          </a:ln>
          <a:effectLst>
            <a:outerShdw blurRad="40000" dist="12000" dir="5400000" algn="tl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267444" y="5577840"/>
            <a:ext cx="2281428" cy="219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00" b="1" i="0">
                <a:solidFill>
                  <a:srgbClr val="070B14"/>
                </a:solidFill>
                <a:latin typeface="Segoe UI"/>
              </a:rPr>
              <a:t>RECOMMENDED</a:t>
            </a:r>
          </a:p>
        </p:txBody>
      </p:sp>
    </p:spTree>
  </p:cSld>
  <p:clrMapOvr>
    <a:masterClrMapping/>
  </p:clrMapOvr>
  <p:timing>
    <p:tnLst>
      <p:par>
        <p:cTn id="101" dur="indefinite" restart="whenNotActive" nodeType="tmRoot">
          <p:childTnLst>
            <p:seq concurrent="1" nextAc="seek">
              <p:cTn id="102" dur="indefinite" nodeType="mainSeq">
                <p:childTnLst>
                  <p:par>
                    <p:cTn id="103" fill="hold" nodeType="afterEffect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InFromBottom">
                                      <p:cBhvr>
                                        <p:cTn id="106" dur="52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afterEffect">
                      <p:stCondLst>
                        <p:cond delay="14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InFromBottom">
                                      <p:cBhvr>
                                        <p:cTn id="110" dur="52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 nodeType="afterEffect">
                      <p:stCondLst>
                        <p:cond delay="28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InFromBottom">
                                      <p:cBhvr>
                                        <p:cTn id="114" dur="52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afterEffect">
                      <p:stCondLst>
                        <p:cond delay="420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InFromBottom">
                                      <p:cBhvr>
                                        <p:cTn id="118" dur="52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n val="102"/>
                </p:cond>
              </p:nextCondLst>
            </p:seq>
          </p:childTnLst>
        </p:cTn>
      </p:par>
    </p:tnLst>
  </p:timing>
  <p:transition dur="7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128016"/>
            <a:ext cx="1101852" cy="274320"/>
          </a:xfrm>
          <a:prstGeom prst="round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137160"/>
            <a:ext cx="320040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50" b="1" i="0">
                <a:solidFill>
                  <a:srgbClr val="070B14"/>
                </a:solidFill>
                <a:latin typeface="Segoe UI Semibold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74552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800" b="1" i="0">
                <a:solidFill>
                  <a:srgbClr val="F2F5FA"/>
                </a:solidFill>
                <a:latin typeface="Segoe UI Semibold"/>
              </a:rPr>
              <a:t>Performance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96112"/>
            <a:ext cx="9245132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Segoe UI"/>
              </a:rPr>
              <a:t>Stacking Ensemble leads with 93.50% accuracy — 7.92 points above the Decision Tree baseline.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28816"/>
            <a:ext cx="12188952" cy="9144"/>
          </a:xfrm>
          <a:prstGeom prst="rect">
            <a:avLst/>
          </a:prstGeom>
          <a:solidFill>
            <a:srgbClr val="282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50" b="0" i="0">
                <a:solidFill>
                  <a:srgbClr val="8A94A6"/>
                </a:solidFill>
                <a:latin typeface="Segoe UI"/>
              </a:rPr>
              <a:t>Disease Prediction System  ·  Using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59752" y="6565392"/>
            <a:ext cx="45720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750" b="0" i="0">
                <a:solidFill>
                  <a:srgbClr val="8A94A6"/>
                </a:solidFill>
                <a:latin typeface="Segoe UI"/>
              </a:rPr>
              <a:t>MLC-2  |  CSE 3968  |  ITER, SOA University  |  May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" y="1179576"/>
            <a:ext cx="6675120" cy="4754880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115568"/>
            <a:ext cx="6675120" cy="4754880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170432"/>
            <a:ext cx="50292" cy="4645152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80160"/>
            <a:ext cx="4114800" cy="310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600" b="1" i="0">
                <a:solidFill>
                  <a:srgbClr val="F2F5FA"/>
                </a:solidFill>
                <a:latin typeface="Segoe UI Semibold"/>
              </a:rPr>
              <a:t>Accuracy Ranking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792224"/>
            <a:ext cx="237744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C8D0DE"/>
                </a:solidFill>
                <a:latin typeface="Segoe UI"/>
              </a:rPr>
              <a:t>Decision Tree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5536" y="1837943"/>
            <a:ext cx="2926080" cy="128016"/>
          </a:xfrm>
          <a:prstGeom prst="round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145536" y="1837943"/>
            <a:ext cx="2504139" cy="128016"/>
          </a:xfrm>
          <a:prstGeom prst="roundRect">
            <a:avLst/>
          </a:prstGeom>
          <a:solidFill>
            <a:srgbClr val="F96B6B"/>
          </a:solidFill>
          <a:ln>
            <a:noFill/>
          </a:ln>
          <a:effectLst>
            <a:outerShdw blurRad="40000" dist="12000" dir="5400000" algn="tl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3056" y="1783080"/>
            <a:ext cx="77724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050" b="1" i="0">
                <a:solidFill>
                  <a:srgbClr val="F96B6B"/>
                </a:solidFill>
                <a:latin typeface="Segoe UI"/>
              </a:rPr>
              <a:t>85.58%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670048"/>
            <a:ext cx="237744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C8D0DE"/>
                </a:solidFill>
                <a:latin typeface="Segoe UI"/>
              </a:rPr>
              <a:t>XGBoost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45536" y="2715768"/>
            <a:ext cx="2926080" cy="128016"/>
          </a:xfrm>
          <a:prstGeom prst="round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145536" y="2715768"/>
            <a:ext cx="2676485" cy="128016"/>
          </a:xfrm>
          <a:prstGeom prst="roundRect">
            <a:avLst/>
          </a:prstGeom>
          <a:solidFill>
            <a:srgbClr val="5BA8FF"/>
          </a:solidFill>
          <a:ln>
            <a:noFill/>
          </a:ln>
          <a:effectLst>
            <a:outerShdw blurRad="40000" dist="12000" dir="5400000" algn="tl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63056" y="2660903"/>
            <a:ext cx="77724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050" b="1" i="0">
                <a:solidFill>
                  <a:srgbClr val="5BA8FF"/>
                </a:solidFill>
                <a:latin typeface="Segoe UI"/>
              </a:rPr>
              <a:t>91.47%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547872"/>
            <a:ext cx="237744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C8D0DE"/>
                </a:solidFill>
                <a:latin typeface="Segoe UI"/>
              </a:rPr>
              <a:t>Random Forest (200)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45536" y="3593591"/>
            <a:ext cx="2926080" cy="128016"/>
          </a:xfrm>
          <a:prstGeom prst="round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145536" y="3593591"/>
            <a:ext cx="2730032" cy="128016"/>
          </a:xfrm>
          <a:prstGeom prst="roundRect">
            <a:avLst/>
          </a:prstGeom>
          <a:solidFill>
            <a:srgbClr val="3DD68C"/>
          </a:solidFill>
          <a:ln>
            <a:noFill/>
          </a:ln>
          <a:effectLst>
            <a:outerShdw blurRad="40000" dist="12000" dir="5400000" algn="tl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63056" y="3538727"/>
            <a:ext cx="77724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050" b="1" i="0">
                <a:solidFill>
                  <a:srgbClr val="3DD68C"/>
                </a:solidFill>
                <a:latin typeface="Segoe UI"/>
              </a:rPr>
              <a:t>93.30%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425696"/>
            <a:ext cx="237744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C8D0DE"/>
                </a:solidFill>
                <a:latin typeface="Segoe UI"/>
              </a:rPr>
              <a:t>Stacking Ensemble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45536" y="4471416"/>
            <a:ext cx="2926080" cy="128016"/>
          </a:xfrm>
          <a:prstGeom prst="roundRect">
            <a:avLst/>
          </a:prstGeom>
          <a:solidFill>
            <a:srgbClr val="1E26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145536" y="4471416"/>
            <a:ext cx="2735884" cy="128016"/>
          </a:xfrm>
          <a:prstGeom prst="roundRect">
            <a:avLst/>
          </a:prstGeom>
          <a:solidFill>
            <a:srgbClr val="FF6B2B"/>
          </a:solidFill>
          <a:ln>
            <a:noFill/>
          </a:ln>
          <a:effectLst>
            <a:outerShdw blurRad="40000" dist="12000" dir="5400000" algn="tl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63056" y="4416552"/>
            <a:ext cx="77724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050" b="1" i="0">
                <a:solidFill>
                  <a:srgbClr val="FF6B2B"/>
                </a:solidFill>
                <a:latin typeface="Segoe UI"/>
              </a:rPr>
              <a:t>93.50%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5248656"/>
            <a:ext cx="2103120" cy="621792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58368" y="5184648"/>
            <a:ext cx="2103120" cy="621792"/>
          </a:xfrm>
          <a:prstGeom prst="roundRect">
            <a:avLst/>
          </a:prstGeom>
          <a:solidFill>
            <a:srgbClr val="171D2C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5239512"/>
            <a:ext cx="50292" cy="512064"/>
          </a:xfrm>
          <a:prstGeom prst="rect">
            <a:avLst/>
          </a:prstGeom>
          <a:solidFill>
            <a:srgbClr val="FFB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5257800"/>
            <a:ext cx="1865376" cy="2735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2600" b="1" i="0">
                <a:solidFill>
                  <a:srgbClr val="FFB330"/>
                </a:solidFill>
                <a:latin typeface="Segoe UI Black"/>
              </a:rPr>
              <a:t>+7.92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5570159"/>
            <a:ext cx="1920239" cy="211409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8A94A6"/>
                </a:solidFill>
                <a:latin typeface="Segoe UI"/>
              </a:rPr>
              <a:t>accuracy pts vs DT baseline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99232" y="5248656"/>
            <a:ext cx="2103120" cy="621792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944368" y="5184648"/>
            <a:ext cx="2103120" cy="621792"/>
          </a:xfrm>
          <a:prstGeom prst="roundRect">
            <a:avLst/>
          </a:prstGeom>
          <a:solidFill>
            <a:srgbClr val="171D2C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944368" y="5239512"/>
            <a:ext cx="50292" cy="512064"/>
          </a:xfrm>
          <a:prstGeom prst="rect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72384" y="5257800"/>
            <a:ext cx="1865376" cy="2735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2600" b="1" i="0">
                <a:solidFill>
                  <a:srgbClr val="2DCEBF"/>
                </a:solidFill>
                <a:latin typeface="Segoe UI Black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35808" y="5570159"/>
            <a:ext cx="1920239" cy="211409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8A94A6"/>
                </a:solidFill>
                <a:latin typeface="Segoe UI"/>
              </a:rPr>
              <a:t>models benchmarked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85231" y="5248656"/>
            <a:ext cx="1719072" cy="621792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230368" y="5184648"/>
            <a:ext cx="1719072" cy="621792"/>
          </a:xfrm>
          <a:prstGeom prst="roundRect">
            <a:avLst/>
          </a:prstGeom>
          <a:solidFill>
            <a:srgbClr val="171D2C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230368" y="5239512"/>
            <a:ext cx="50292" cy="512064"/>
          </a:xfrm>
          <a:prstGeom prst="rect">
            <a:avLst/>
          </a:prstGeom>
          <a:solidFill>
            <a:srgbClr val="5B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58383" y="5257800"/>
            <a:ext cx="1481328" cy="2735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2600" b="1" i="0">
                <a:solidFill>
                  <a:srgbClr val="5BA8FF"/>
                </a:solidFill>
                <a:latin typeface="Segoe UI Black"/>
              </a:rPr>
              <a:t>985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21807" y="5570159"/>
            <a:ext cx="1536192" cy="211409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8A94A6"/>
                </a:solidFill>
                <a:latin typeface="Segoe UI"/>
              </a:rPr>
              <a:t>test samples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98080" y="1179576"/>
            <a:ext cx="4206240" cy="4754880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443216" y="1115568"/>
            <a:ext cx="4206240" cy="4754880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443216" y="1170432"/>
            <a:ext cx="50292" cy="4645152"/>
          </a:xfrm>
          <a:prstGeom prst="rect">
            <a:avLst/>
          </a:prstGeom>
          <a:solidFill>
            <a:srgbClr val="FFB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443216" y="1115568"/>
            <a:ext cx="4206240" cy="438912"/>
          </a:xfrm>
          <a:prstGeom prst="roundRect">
            <a:avLst/>
          </a:prstGeom>
          <a:solidFill>
            <a:srgbClr val="28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26096" y="1197864"/>
            <a:ext cx="128016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50" b="1" i="0">
                <a:solidFill>
                  <a:srgbClr val="FFB330"/>
                </a:solidFill>
                <a:latin typeface="Segoe UI"/>
              </a:rPr>
              <a:t>Model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34272" y="1197864"/>
            <a:ext cx="64008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50" b="1" i="0">
                <a:solidFill>
                  <a:srgbClr val="FFB330"/>
                </a:solidFill>
                <a:latin typeface="Segoe UI"/>
              </a:rPr>
              <a:t>Acc.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02368" y="1197864"/>
            <a:ext cx="59436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50" b="1" i="0">
                <a:solidFill>
                  <a:srgbClr val="FFB330"/>
                </a:solidFill>
                <a:latin typeface="Segoe UI"/>
              </a:rPr>
              <a:t>Prec.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24160" y="1197864"/>
            <a:ext cx="59436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50" b="1" i="0">
                <a:solidFill>
                  <a:srgbClr val="FFB330"/>
                </a:solidFill>
                <a:latin typeface="Segoe UI"/>
              </a:rPr>
              <a:t>Rec.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45952" y="1197864"/>
            <a:ext cx="54864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50" b="1" i="0">
                <a:solidFill>
                  <a:srgbClr val="FFB330"/>
                </a:solidFill>
                <a:latin typeface="Segoe UI"/>
              </a:rPr>
              <a:t>F1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626096" y="1664207"/>
            <a:ext cx="3822191" cy="621792"/>
          </a:xfrm>
          <a:prstGeom prst="roundRect">
            <a:avLst/>
          </a:prstGeom>
          <a:solidFill>
            <a:srgbClr val="14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626096" y="1810511"/>
            <a:ext cx="128016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0">
                <a:solidFill>
                  <a:srgbClr val="F96B6B"/>
                </a:solidFill>
                <a:latin typeface="Segoe UI"/>
              </a:rPr>
              <a:t>Decision Tree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34272" y="1810511"/>
            <a:ext cx="64008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0">
                <a:solidFill>
                  <a:srgbClr val="C8D0DE"/>
                </a:solidFill>
                <a:latin typeface="Segoe UI"/>
              </a:rPr>
              <a:t>85.58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02368" y="1810511"/>
            <a:ext cx="59436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0">
                <a:solidFill>
                  <a:srgbClr val="C8D0DE"/>
                </a:solidFill>
                <a:latin typeface="Segoe UI"/>
              </a:rPr>
              <a:t>0.86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24160" y="1810511"/>
            <a:ext cx="59436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0">
                <a:solidFill>
                  <a:srgbClr val="C8D0DE"/>
                </a:solidFill>
                <a:latin typeface="Segoe UI"/>
              </a:rPr>
              <a:t>0.86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45952" y="1810511"/>
            <a:ext cx="54864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0">
                <a:solidFill>
                  <a:srgbClr val="C8D0DE"/>
                </a:solidFill>
                <a:latin typeface="Segoe UI"/>
              </a:rPr>
              <a:t>0.86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626096" y="2304287"/>
            <a:ext cx="3822192" cy="0"/>
          </a:xfrm>
          <a:prstGeom prst="line">
            <a:avLst/>
          </a:prstGeom>
          <a:ln w="6350">
            <a:solidFill>
              <a:srgbClr val="282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7626096" y="2414015"/>
            <a:ext cx="3822191" cy="621792"/>
          </a:xfrm>
          <a:prstGeom prst="roundRect">
            <a:avLst/>
          </a:prstGeom>
          <a:solidFill>
            <a:srgbClr val="14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626096" y="2560320"/>
            <a:ext cx="128016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0">
                <a:solidFill>
                  <a:srgbClr val="5BA8FF"/>
                </a:solidFill>
                <a:latin typeface="Segoe UI"/>
              </a:rPr>
              <a:t>XGBoost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34272" y="2560320"/>
            <a:ext cx="64008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0">
                <a:solidFill>
                  <a:srgbClr val="C8D0DE"/>
                </a:solidFill>
                <a:latin typeface="Segoe UI"/>
              </a:rPr>
              <a:t>91.47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02368" y="2560320"/>
            <a:ext cx="59436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0">
                <a:solidFill>
                  <a:srgbClr val="C8D0DE"/>
                </a:solidFill>
                <a:latin typeface="Segoe UI"/>
              </a:rPr>
              <a:t>0.92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24160" y="2560320"/>
            <a:ext cx="59436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0">
                <a:solidFill>
                  <a:srgbClr val="C8D0DE"/>
                </a:solidFill>
                <a:latin typeface="Segoe UI"/>
              </a:rPr>
              <a:t>0.91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45952" y="2560320"/>
            <a:ext cx="54864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0">
                <a:solidFill>
                  <a:srgbClr val="C8D0DE"/>
                </a:solidFill>
                <a:latin typeface="Segoe UI"/>
              </a:rPr>
              <a:t>0.91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626096" y="3054096"/>
            <a:ext cx="3822192" cy="0"/>
          </a:xfrm>
          <a:prstGeom prst="line">
            <a:avLst/>
          </a:prstGeom>
          <a:ln w="6350">
            <a:solidFill>
              <a:srgbClr val="282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626096" y="3163824"/>
            <a:ext cx="3822191" cy="621792"/>
          </a:xfrm>
          <a:prstGeom prst="roundRect">
            <a:avLst/>
          </a:prstGeom>
          <a:solidFill>
            <a:srgbClr val="1419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626096" y="3310128"/>
            <a:ext cx="128016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0">
                <a:solidFill>
                  <a:srgbClr val="3DD68C"/>
                </a:solidFill>
                <a:latin typeface="Segoe UI"/>
              </a:rPr>
              <a:t>Random Forest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34272" y="3310128"/>
            <a:ext cx="64008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0">
                <a:solidFill>
                  <a:srgbClr val="C8D0DE"/>
                </a:solidFill>
                <a:latin typeface="Segoe UI"/>
              </a:rPr>
              <a:t>93.30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02368" y="3310128"/>
            <a:ext cx="59436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0">
                <a:solidFill>
                  <a:srgbClr val="C8D0DE"/>
                </a:solidFill>
                <a:latin typeface="Segoe UI"/>
              </a:rPr>
              <a:t>0.94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424160" y="3310128"/>
            <a:ext cx="59436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0">
                <a:solidFill>
                  <a:srgbClr val="C8D0DE"/>
                </a:solidFill>
                <a:latin typeface="Segoe UI"/>
              </a:rPr>
              <a:t>0.93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045952" y="3310128"/>
            <a:ext cx="54864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0">
                <a:solidFill>
                  <a:srgbClr val="C8D0DE"/>
                </a:solidFill>
                <a:latin typeface="Segoe UI"/>
              </a:rPr>
              <a:t>0.93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7626096" y="3803904"/>
            <a:ext cx="3822192" cy="0"/>
          </a:xfrm>
          <a:prstGeom prst="line">
            <a:avLst/>
          </a:prstGeom>
          <a:ln w="6350">
            <a:solidFill>
              <a:srgbClr val="282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7626096" y="3913631"/>
            <a:ext cx="3822191" cy="621792"/>
          </a:xfrm>
          <a:prstGeom prst="roundRect">
            <a:avLst/>
          </a:prstGeom>
          <a:solidFill>
            <a:srgbClr val="2016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626096" y="4059935"/>
            <a:ext cx="128016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50" b="1" i="0">
                <a:solidFill>
                  <a:srgbClr val="FF6B2B"/>
                </a:solidFill>
                <a:latin typeface="Segoe UI"/>
              </a:rPr>
              <a:t>Stacking (★ Best)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034272" y="4059935"/>
            <a:ext cx="64008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50" b="1" i="0">
                <a:solidFill>
                  <a:srgbClr val="FF6B2B"/>
                </a:solidFill>
                <a:latin typeface="Segoe UI"/>
              </a:rPr>
              <a:t>93.50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802368" y="4059935"/>
            <a:ext cx="59436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50" b="1" i="0">
                <a:solidFill>
                  <a:srgbClr val="FF6B2B"/>
                </a:solidFill>
                <a:latin typeface="Segoe UI"/>
              </a:rPr>
              <a:t>0.94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24160" y="4059935"/>
            <a:ext cx="59436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50" b="1" i="0">
                <a:solidFill>
                  <a:srgbClr val="FF6B2B"/>
                </a:solidFill>
                <a:latin typeface="Segoe UI"/>
              </a:rPr>
              <a:t>0.93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045952" y="4059935"/>
            <a:ext cx="54864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50" b="1" i="0">
                <a:solidFill>
                  <a:srgbClr val="FF6B2B"/>
                </a:solidFill>
                <a:latin typeface="Segoe UI"/>
              </a:rPr>
              <a:t>0.93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443216" y="5212080"/>
            <a:ext cx="4206240" cy="512064"/>
          </a:xfrm>
          <a:prstGeom prst="roundRect">
            <a:avLst/>
          </a:prstGeom>
          <a:solidFill>
            <a:srgbClr val="261806"/>
          </a:solidFill>
          <a:ln w="15240">
            <a:solidFill>
              <a:srgbClr val="FF6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626096" y="5303520"/>
            <a:ext cx="3822191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1" i="0">
                <a:solidFill>
                  <a:srgbClr val="FF6B2B"/>
                </a:solidFill>
                <a:latin typeface="Segoe UI"/>
              </a:rPr>
              <a:t>★  Stacking Ensemble 93.50%  —  macro F1 0.93  —  BEST MODEL</a:t>
            </a:r>
          </a:p>
        </p:txBody>
      </p:sp>
    </p:spTree>
  </p:cSld>
  <p:clrMapOvr>
    <a:masterClrMapping/>
  </p:clrMapOvr>
  <p:timing>
    <p:tnLst>
      <p:par>
        <p:cTn id="101" dur="indefinite" restart="whenNotActive" nodeType="tmRoot">
          <p:childTnLst>
            <p:seq concurrent="1" nextAc="seek">
              <p:cTn id="102" dur="indefinite" nodeType="mainSeq">
                <p:childTnLst>
                  <p:par>
                    <p:cTn id="103" fill="hold" nodeType="afterEffect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6" dur="55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afterEffect">
                      <p:stCondLst>
                        <p:cond delay="20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0" dur="5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n val="102"/>
                </p:cond>
              </p:nextCondLst>
            </p:seq>
          </p:childTnLst>
        </p:cTn>
      </p:par>
    </p:tnLst>
  </p:timing>
  <p:transition dur="700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B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128016"/>
            <a:ext cx="1627632" cy="274320"/>
          </a:xfrm>
          <a:prstGeom prst="round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137160"/>
            <a:ext cx="320040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50" b="1" i="0">
                <a:solidFill>
                  <a:srgbClr val="070B14"/>
                </a:solidFill>
                <a:latin typeface="Segoe UI Semibold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74552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800" b="1" i="0">
                <a:solidFill>
                  <a:srgbClr val="F2F5FA"/>
                </a:solidFill>
                <a:latin typeface="Segoe UI Semibold"/>
              </a:rPr>
              <a:t>Stacking Ensemble — Deep Dive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96112"/>
            <a:ext cx="9245132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Segoe UI"/>
              </a:rPr>
              <a:t>Base learners produce probability outputs; the meta-learner blends them + raw features.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28816"/>
            <a:ext cx="12188952" cy="9144"/>
          </a:xfrm>
          <a:prstGeom prst="rect">
            <a:avLst/>
          </a:prstGeom>
          <a:solidFill>
            <a:srgbClr val="282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50" b="0" i="0">
                <a:solidFill>
                  <a:srgbClr val="8A94A6"/>
                </a:solidFill>
                <a:latin typeface="Segoe UI"/>
              </a:rPr>
              <a:t>Disease Prediction System  ·  Using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59752" y="6565392"/>
            <a:ext cx="45720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750" b="0" i="0">
                <a:solidFill>
                  <a:srgbClr val="8A94A6"/>
                </a:solidFill>
                <a:latin typeface="Segoe UI"/>
              </a:rPr>
              <a:t>MLC-2  |  CSE 3968  |  ITER, SOA University  |  May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" y="2016251"/>
            <a:ext cx="1737360" cy="74980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952243"/>
            <a:ext cx="1737360" cy="749808"/>
          </a:xfrm>
          <a:prstGeom prst="roundRect">
            <a:avLst/>
          </a:prstGeom>
          <a:solidFill>
            <a:srgbClr val="171D2C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007107"/>
            <a:ext cx="50292" cy="640080"/>
          </a:xfrm>
          <a:prstGeom prst="rect">
            <a:avLst/>
          </a:prstGeom>
          <a:solidFill>
            <a:srgbClr val="5B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043684"/>
            <a:ext cx="1554480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200" b="1" i="0">
                <a:solidFill>
                  <a:srgbClr val="F2F5FA"/>
                </a:solidFill>
                <a:latin typeface="Segoe UI"/>
              </a:rPr>
              <a:t>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354579"/>
            <a:ext cx="1554480" cy="219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00" b="0" i="0">
                <a:solidFill>
                  <a:srgbClr val="8A94A6"/>
                </a:solidFill>
                <a:latin typeface="Segoe UI"/>
              </a:rPr>
              <a:t>135 features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52344" y="1362456"/>
            <a:ext cx="2286000" cy="594360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97480" y="1298448"/>
            <a:ext cx="2286000" cy="594360"/>
          </a:xfrm>
          <a:prstGeom prst="roundRect">
            <a:avLst/>
          </a:prstGeom>
          <a:solidFill>
            <a:srgbClr val="171D2C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97480" y="1353312"/>
            <a:ext cx="50292" cy="484632"/>
          </a:xfrm>
          <a:prstGeom prst="rect">
            <a:avLst/>
          </a:prstGeom>
          <a:solidFill>
            <a:srgbClr val="F9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80" y="1335024"/>
            <a:ext cx="228600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100" b="1" i="0">
                <a:solidFill>
                  <a:srgbClr val="F2F5FA"/>
                </a:solidFill>
                <a:latin typeface="Segoe UI Semibold"/>
              </a:rPr>
              <a:t>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1591056"/>
            <a:ext cx="2286000" cy="219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0">
                <a:solidFill>
                  <a:srgbClr val="C8D0DE"/>
                </a:solidFill>
                <a:latin typeface="Segoe UI"/>
              </a:rPr>
              <a:t>Tree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221991" y="1595628"/>
            <a:ext cx="448057" cy="731520"/>
          </a:xfrm>
          <a:prstGeom prst="line">
            <a:avLst/>
          </a:prstGeom>
          <a:ln w="13970">
            <a:solidFill>
              <a:srgbClr val="F9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752344" y="2093975"/>
            <a:ext cx="2286000" cy="594360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697480" y="2029967"/>
            <a:ext cx="2286000" cy="594360"/>
          </a:xfrm>
          <a:prstGeom prst="roundRect">
            <a:avLst/>
          </a:prstGeom>
          <a:solidFill>
            <a:srgbClr val="171D2C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97480" y="2084831"/>
            <a:ext cx="50292" cy="484632"/>
          </a:xfrm>
          <a:prstGeom prst="rect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97480" y="2066543"/>
            <a:ext cx="228600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100" b="1" i="0">
                <a:solidFill>
                  <a:srgbClr val="F2F5FA"/>
                </a:solidFill>
                <a:latin typeface="Segoe UI Semibold"/>
              </a:rPr>
              <a:t>Random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2322575"/>
            <a:ext cx="2286000" cy="219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0">
                <a:solidFill>
                  <a:srgbClr val="C8D0DE"/>
                </a:solidFill>
                <a:latin typeface="Segoe UI"/>
              </a:rPr>
              <a:t>Forest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221991" y="2327148"/>
            <a:ext cx="448057" cy="0"/>
          </a:xfrm>
          <a:prstGeom prst="line">
            <a:avLst/>
          </a:prstGeom>
          <a:ln w="13970">
            <a:solidFill>
              <a:srgbClr val="2DCE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2752344" y="2825496"/>
            <a:ext cx="2286000" cy="594360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697480" y="2761488"/>
            <a:ext cx="2286000" cy="594360"/>
          </a:xfrm>
          <a:prstGeom prst="roundRect">
            <a:avLst/>
          </a:prstGeom>
          <a:solidFill>
            <a:srgbClr val="171D2C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97480" y="2816352"/>
            <a:ext cx="50292" cy="484632"/>
          </a:xfrm>
          <a:prstGeom prst="rect">
            <a:avLst/>
          </a:prstGeom>
          <a:solidFill>
            <a:srgbClr val="5B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97480" y="2926080"/>
            <a:ext cx="228600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100" b="1" i="0">
                <a:solidFill>
                  <a:srgbClr val="F2F5FA"/>
                </a:solidFill>
                <a:latin typeface="Segoe UI Semibold"/>
              </a:rPr>
              <a:t>XGBoost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221991" y="2327148"/>
            <a:ext cx="448057" cy="731520"/>
          </a:xfrm>
          <a:prstGeom prst="line">
            <a:avLst/>
          </a:prstGeom>
          <a:ln w="13970">
            <a:solidFill>
              <a:srgbClr val="5BA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2221991" y="2327148"/>
            <a:ext cx="3401569" cy="0"/>
          </a:xfrm>
          <a:prstGeom prst="line">
            <a:avLst/>
          </a:prstGeom>
          <a:ln w="12700">
            <a:solidFill>
              <a:srgbClr val="8A94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3200400" y="2107691"/>
            <a:ext cx="2286000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00" b="0" i="1">
                <a:solidFill>
                  <a:srgbClr val="8A94A6"/>
                </a:solidFill>
                <a:latin typeface="Segoe UI"/>
              </a:rPr>
              <a:t>passthrough=True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010912" y="1595628"/>
            <a:ext cx="585216" cy="731520"/>
          </a:xfrm>
          <a:prstGeom prst="line">
            <a:avLst/>
          </a:prstGeom>
          <a:ln w="13970">
            <a:solidFill>
              <a:srgbClr val="F9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010912" y="2327148"/>
            <a:ext cx="585216" cy="0"/>
          </a:xfrm>
          <a:prstGeom prst="line">
            <a:avLst/>
          </a:prstGeom>
          <a:ln w="13970">
            <a:solidFill>
              <a:srgbClr val="2DCE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010912" y="2327148"/>
            <a:ext cx="585216" cy="731520"/>
          </a:xfrm>
          <a:prstGeom prst="line">
            <a:avLst/>
          </a:prstGeom>
          <a:ln w="13970">
            <a:solidFill>
              <a:srgbClr val="5BA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5678424" y="2002535"/>
            <a:ext cx="2743200" cy="914400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623560" y="1938527"/>
            <a:ext cx="2743200" cy="914400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23560" y="1993391"/>
            <a:ext cx="50292" cy="804672"/>
          </a:xfrm>
          <a:prstGeom prst="rect">
            <a:avLst/>
          </a:prstGeom>
          <a:solidFill>
            <a:srgbClr val="FFB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23560" y="1993391"/>
            <a:ext cx="274320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300" b="1" i="0">
                <a:solidFill>
                  <a:srgbClr val="F2F5FA"/>
                </a:solidFill>
                <a:latin typeface="Segoe UI Semibold"/>
              </a:rPr>
              <a:t>Meta-Learner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23560" y="2267711"/>
            <a:ext cx="2743200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000" b="0" i="0">
                <a:solidFill>
                  <a:srgbClr val="FFB330"/>
                </a:solidFill>
                <a:latin typeface="Segoe UI"/>
              </a:rPr>
              <a:t>Logistic Regression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23560" y="2487168"/>
            <a:ext cx="2743200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850" b="0" i="0">
                <a:solidFill>
                  <a:srgbClr val="8A94A6"/>
                </a:solidFill>
                <a:latin typeface="Segoe UI"/>
              </a:rPr>
              <a:t>C=0.1  |  saga  |  max_iter=3000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394192" y="2327148"/>
            <a:ext cx="566928" cy="0"/>
          </a:xfrm>
          <a:prstGeom prst="line">
            <a:avLst/>
          </a:prstGeom>
          <a:ln w="19050">
            <a:solidFill>
              <a:srgbClr val="A8E6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9034272" y="2002535"/>
            <a:ext cx="2240280" cy="914400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979408" y="1938527"/>
            <a:ext cx="2240280" cy="914400"/>
          </a:xfrm>
          <a:prstGeom prst="roundRect">
            <a:avLst/>
          </a:prstGeom>
          <a:solidFill>
            <a:srgbClr val="171D2C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979408" y="1993391"/>
            <a:ext cx="50292" cy="804672"/>
          </a:xfrm>
          <a:prstGeom prst="rect">
            <a:avLst/>
          </a:prstGeom>
          <a:solidFill>
            <a:srgbClr val="A8E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79408" y="2029967"/>
            <a:ext cx="224028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300" b="1" i="0">
                <a:solidFill>
                  <a:srgbClr val="F2F5FA"/>
                </a:solidFill>
                <a:latin typeface="Segoe UI"/>
              </a:rPr>
              <a:t>Prediction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79408" y="2340863"/>
            <a:ext cx="2240280" cy="219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00" b="0" i="0">
                <a:solidFill>
                  <a:srgbClr val="8A94A6"/>
                </a:solidFill>
                <a:latin typeface="Segoe UI"/>
              </a:rPr>
              <a:t>Final disease label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12064" y="3602736"/>
            <a:ext cx="2647188" cy="157276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57200" y="3538728"/>
            <a:ext cx="2647188" cy="157276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7200" y="3593592"/>
            <a:ext cx="50292" cy="1463040"/>
          </a:xfrm>
          <a:prstGeom prst="rect">
            <a:avLst/>
          </a:prstGeom>
          <a:solidFill>
            <a:srgbClr val="FFB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3648456"/>
            <a:ext cx="237286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150" b="1" i="0">
                <a:solidFill>
                  <a:srgbClr val="FFB330"/>
                </a:solidFill>
                <a:latin typeface="Segoe UI Semibold"/>
              </a:rPr>
              <a:t>5-Fold CV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4014216"/>
            <a:ext cx="2372868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Segoe UI"/>
              </a:rPr>
              <a:t>Out-of-fold predictions during training prevent data leakage to the meta-learner.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387852" y="3602736"/>
            <a:ext cx="2647188" cy="157276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332988" y="3538728"/>
            <a:ext cx="2647188" cy="157276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332988" y="3593592"/>
            <a:ext cx="50292" cy="146304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15868" y="3648456"/>
            <a:ext cx="237286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150" b="1" i="0">
                <a:solidFill>
                  <a:srgbClr val="FF6B2B"/>
                </a:solidFill>
                <a:latin typeface="Segoe UI Semibold"/>
              </a:rPr>
              <a:t>passthrough=True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15868" y="4014216"/>
            <a:ext cx="2372868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Segoe UI"/>
              </a:rPr>
              <a:t>Meta-learner sees raw features AND base model outputs — corrects cases all 3 models miss.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63640" y="3602736"/>
            <a:ext cx="2647188" cy="157276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208776" y="3538728"/>
            <a:ext cx="2647188" cy="157276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208776" y="3593592"/>
            <a:ext cx="50292" cy="1463040"/>
          </a:xfrm>
          <a:prstGeom prst="rect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91656" y="3648456"/>
            <a:ext cx="237286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150" b="1" i="0">
                <a:solidFill>
                  <a:srgbClr val="2DCEBF"/>
                </a:solidFill>
                <a:latin typeface="Segoe UI Semibold"/>
              </a:rPr>
              <a:t>predict_proba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91656" y="4014216"/>
            <a:ext cx="2372868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Segoe UI"/>
              </a:rPr>
              <a:t>Passes full probability distributions, not just hard labels — richer meta-input.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9428" y="3602736"/>
            <a:ext cx="2647188" cy="157276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9084564" y="3538728"/>
            <a:ext cx="2647188" cy="157276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084564" y="3593592"/>
            <a:ext cx="50292" cy="1463040"/>
          </a:xfrm>
          <a:prstGeom prst="rect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267444" y="3648456"/>
            <a:ext cx="2372868" cy="2743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150" b="1" i="0">
                <a:solidFill>
                  <a:srgbClr val="3DD68C"/>
                </a:solidFill>
                <a:latin typeface="Segoe UI Semibold"/>
              </a:rPr>
              <a:t>+0.20% over RF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67444" y="4014216"/>
            <a:ext cx="2372868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Segoe UI"/>
              </a:rPr>
              <a:t>Meta-learner recovers residual errors on hard disease-boundary samples.</a:t>
            </a:r>
          </a:p>
        </p:txBody>
      </p:sp>
    </p:spTree>
  </p:cSld>
  <p:clrMapOvr>
    <a:masterClrMapping/>
  </p:clrMapOvr>
  <p:timing>
    <p:tnLst>
      <p:par>
        <p:cTn id="101" dur="indefinite" restart="whenNotActive" nodeType="tmRoot">
          <p:childTnLst>
            <p:seq concurrent="1" nextAc="seek">
              <p:cTn id="102" dur="indefinite" nodeType="mainSeq">
                <p:childTnLst>
                  <p:par>
                    <p:cTn id="103" fill="hold" nodeType="afterEffect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6" dur="45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afterEffect">
                      <p:stCondLst>
                        <p:cond delay="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0" dur="45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 nodeType="afterEffect">
                      <p:stCondLst>
                        <p:cond delay="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4" dur="45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afterEffect">
                      <p:stCondLst>
                        <p:cond delay="200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8" dur="5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 nodeType="afterEffect">
                      <p:stCondLst>
                        <p:cond delay="400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2" dur="45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 nodeType="afterEffect">
                      <p:stCondLst>
                        <p:cond delay="52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6" dur="45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 nodeType="afterEffect">
                      <p:stCondLst>
                        <p:cond delay="640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0" dur="45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 nodeType="afterEffect">
                      <p:stCondLst>
                        <p:cond delay="760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4" dur="45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n val="102"/>
                </p:cond>
              </p:nextCondLst>
            </p:seq>
          </p:childTnLst>
        </p:cTn>
      </p:par>
    </p:tnLst>
  </p:timing>
  <p:transition dur="650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A8E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128016"/>
            <a:ext cx="1837944" cy="274320"/>
          </a:xfrm>
          <a:prstGeom prst="round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137160"/>
            <a:ext cx="320040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50" b="1" i="0">
                <a:solidFill>
                  <a:srgbClr val="070B14"/>
                </a:solidFill>
                <a:latin typeface="Segoe UI Semibold"/>
              </a:rPr>
              <a:t>EXPLAINABILITY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74552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800" b="1" i="0">
                <a:solidFill>
                  <a:srgbClr val="F2F5FA"/>
                </a:solidFill>
                <a:latin typeface="Segoe UI Semibold"/>
              </a:rPr>
              <a:t>Feature Importance  (Random Forest)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96112"/>
            <a:ext cx="9245132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Segoe UI"/>
              </a:rPr>
              <a:t>Top symptoms driving disease discrimination — and confirmation that age adds real predictive signal.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28816"/>
            <a:ext cx="12188952" cy="9144"/>
          </a:xfrm>
          <a:prstGeom prst="rect">
            <a:avLst/>
          </a:prstGeom>
          <a:solidFill>
            <a:srgbClr val="282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50" b="0" i="0">
                <a:solidFill>
                  <a:srgbClr val="8A94A6"/>
                </a:solidFill>
                <a:latin typeface="Segoe UI"/>
              </a:rPr>
              <a:t>Disease Prediction System  ·  Using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59752" y="6565392"/>
            <a:ext cx="45720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750" b="0" i="0">
                <a:solidFill>
                  <a:srgbClr val="8A94A6"/>
                </a:solidFill>
                <a:latin typeface="Segoe UI"/>
              </a:rPr>
              <a:t>MLC-2  |  CSE 3968  |  ITER, SOA University  |  May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" y="1179576"/>
            <a:ext cx="6949440" cy="5029200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115568"/>
            <a:ext cx="6949440" cy="5029200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170432"/>
            <a:ext cx="50292" cy="4919472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80160"/>
            <a:ext cx="6400800" cy="310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500" b="1" i="0">
                <a:solidFill>
                  <a:srgbClr val="F2F5FA"/>
                </a:solidFill>
                <a:latin typeface="Segoe UI Semibold"/>
              </a:rPr>
              <a:t>Top 10 Most Discriminative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1746504"/>
            <a:ext cx="2423160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Yellowing Of Eyes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1773936"/>
            <a:ext cx="4389120" cy="128016"/>
          </a:xfrm>
          <a:prstGeom prst="roundRect">
            <a:avLst/>
          </a:prstGeom>
          <a:solidFill>
            <a:srgbClr val="1A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200400" y="1773936"/>
            <a:ext cx="4213555" cy="128016"/>
          </a:xfrm>
          <a:prstGeom prst="round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71815" y="1737360"/>
            <a:ext cx="64008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00" b="1" i="0">
                <a:solidFill>
                  <a:srgbClr val="FF6B2B"/>
                </a:solidFill>
                <a:latin typeface="Segoe UI"/>
              </a:rPr>
              <a:t>0.048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167127"/>
            <a:ext cx="2423160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Dark Urine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0" y="2194560"/>
            <a:ext cx="4389120" cy="128016"/>
          </a:xfrm>
          <a:prstGeom prst="roundRect">
            <a:avLst/>
          </a:prstGeom>
          <a:solidFill>
            <a:srgbClr val="1A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200400" y="2194560"/>
            <a:ext cx="3862425" cy="128016"/>
          </a:xfrm>
          <a:prstGeom prst="round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71815" y="2157984"/>
            <a:ext cx="64008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00" b="1" i="0">
                <a:solidFill>
                  <a:srgbClr val="FF6B2B"/>
                </a:solidFill>
                <a:latin typeface="Segoe UI"/>
              </a:rPr>
              <a:t>0.044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587751"/>
            <a:ext cx="2423160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Sweating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00400" y="2615184"/>
            <a:ext cx="4389120" cy="128016"/>
          </a:xfrm>
          <a:prstGeom prst="roundRect">
            <a:avLst/>
          </a:prstGeom>
          <a:solidFill>
            <a:srgbClr val="1A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200400" y="2615184"/>
            <a:ext cx="3599078" cy="128016"/>
          </a:xfrm>
          <a:prstGeom prst="roundRect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71815" y="2578608"/>
            <a:ext cx="64008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00" b="1" i="0">
                <a:solidFill>
                  <a:srgbClr val="2DCEBF"/>
                </a:solidFill>
                <a:latin typeface="Segoe UI"/>
              </a:rPr>
              <a:t>0.041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008375"/>
            <a:ext cx="2423160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Chills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0" y="3035808"/>
            <a:ext cx="4389120" cy="128016"/>
          </a:xfrm>
          <a:prstGeom prst="roundRect">
            <a:avLst/>
          </a:prstGeom>
          <a:solidFill>
            <a:srgbClr val="1A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00400" y="3035808"/>
            <a:ext cx="3335731" cy="128016"/>
          </a:xfrm>
          <a:prstGeom prst="roundRect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71815" y="2999232"/>
            <a:ext cx="64008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00" b="1" i="0">
                <a:solidFill>
                  <a:srgbClr val="2DCEBF"/>
                </a:solidFill>
                <a:latin typeface="Segoe UI"/>
              </a:rPr>
              <a:t>0.038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3428999"/>
            <a:ext cx="2423160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1" i="0">
                <a:solidFill>
                  <a:srgbClr val="FF6B2B"/>
                </a:solidFill>
                <a:latin typeface="Segoe UI"/>
              </a:rPr>
              <a:t>Age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0" y="3456432"/>
            <a:ext cx="4389120" cy="128016"/>
          </a:xfrm>
          <a:prstGeom prst="roundRect">
            <a:avLst/>
          </a:prstGeom>
          <a:solidFill>
            <a:srgbClr val="1A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200400" y="3456432"/>
            <a:ext cx="3072384" cy="128016"/>
          </a:xfrm>
          <a:prstGeom prst="roundRect">
            <a:avLst/>
          </a:prstGeom>
          <a:solidFill>
            <a:srgbClr val="F9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71815" y="3419856"/>
            <a:ext cx="64008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00" b="1" i="0">
                <a:solidFill>
                  <a:srgbClr val="F96B6B"/>
                </a:solidFill>
                <a:latin typeface="Segoe UI"/>
              </a:rPr>
              <a:t>0.035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849624"/>
            <a:ext cx="2423160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Loss Of Appetite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00400" y="3877055"/>
            <a:ext cx="4389120" cy="128016"/>
          </a:xfrm>
          <a:prstGeom prst="roundRect">
            <a:avLst/>
          </a:prstGeom>
          <a:solidFill>
            <a:srgbClr val="1A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200400" y="3877055"/>
            <a:ext cx="2896819" cy="128016"/>
          </a:xfrm>
          <a:prstGeom prst="roundRect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1815" y="3840479"/>
            <a:ext cx="64008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00" b="1" i="0">
                <a:solidFill>
                  <a:srgbClr val="2DCEBF"/>
                </a:solidFill>
                <a:latin typeface="Segoe UI"/>
              </a:rPr>
              <a:t>0.033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270248"/>
            <a:ext cx="2423160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Fatigue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00400" y="4297680"/>
            <a:ext cx="4389120" cy="128016"/>
          </a:xfrm>
          <a:prstGeom prst="roundRect">
            <a:avLst/>
          </a:prstGeom>
          <a:solidFill>
            <a:srgbClr val="1A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200400" y="4297680"/>
            <a:ext cx="2721254" cy="128016"/>
          </a:xfrm>
          <a:prstGeom prst="roundRect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71815" y="4261104"/>
            <a:ext cx="64008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00" b="1" i="0">
                <a:solidFill>
                  <a:srgbClr val="2DCEBF"/>
                </a:solidFill>
                <a:latin typeface="Segoe UI"/>
              </a:rPr>
              <a:t>0.031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4690872"/>
            <a:ext cx="2423160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High Fever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00400" y="4718303"/>
            <a:ext cx="4389120" cy="128016"/>
          </a:xfrm>
          <a:prstGeom prst="roundRect">
            <a:avLst/>
          </a:prstGeom>
          <a:solidFill>
            <a:srgbClr val="1A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00400" y="4718303"/>
            <a:ext cx="2545689" cy="128016"/>
          </a:xfrm>
          <a:prstGeom prst="roundRect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71815" y="4681727"/>
            <a:ext cx="64008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00" b="1" i="0">
                <a:solidFill>
                  <a:srgbClr val="2DCEBF"/>
                </a:solidFill>
                <a:latin typeface="Segoe UI"/>
              </a:rPr>
              <a:t>0.029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5111496"/>
            <a:ext cx="2423160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Vomiting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00400" y="5138928"/>
            <a:ext cx="4389120" cy="128016"/>
          </a:xfrm>
          <a:prstGeom prst="roundRect">
            <a:avLst/>
          </a:prstGeom>
          <a:solidFill>
            <a:srgbClr val="1A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200400" y="5138928"/>
            <a:ext cx="2370124" cy="128016"/>
          </a:xfrm>
          <a:prstGeom prst="roundRect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71815" y="5102352"/>
            <a:ext cx="64008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00" b="1" i="0">
                <a:solidFill>
                  <a:srgbClr val="2DCEBF"/>
                </a:solidFill>
                <a:latin typeface="Segoe UI"/>
              </a:rPr>
              <a:t>0.027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532120"/>
            <a:ext cx="2423160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C8D0DE"/>
                </a:solidFill>
                <a:latin typeface="Segoe UI"/>
              </a:rPr>
              <a:t>Nausea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00400" y="5559552"/>
            <a:ext cx="4389120" cy="128016"/>
          </a:xfrm>
          <a:prstGeom prst="roundRect">
            <a:avLst/>
          </a:prstGeom>
          <a:solidFill>
            <a:srgbClr val="1A22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200400" y="5559552"/>
            <a:ext cx="2194560" cy="128016"/>
          </a:xfrm>
          <a:prstGeom prst="roundRect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71815" y="5522976"/>
            <a:ext cx="640080" cy="25603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00" b="1" i="0">
                <a:solidFill>
                  <a:srgbClr val="2DCEBF"/>
                </a:solidFill>
                <a:latin typeface="Segoe UI"/>
              </a:rPr>
              <a:t>0.025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54112" y="1179576"/>
            <a:ext cx="3913632" cy="5029200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699248" y="1115568"/>
            <a:ext cx="3913632" cy="5029200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99248" y="1170432"/>
            <a:ext cx="50292" cy="4919472"/>
          </a:xfrm>
          <a:prstGeom prst="rect">
            <a:avLst/>
          </a:prstGeom>
          <a:solidFill>
            <a:srgbClr val="FFB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82127" y="1280160"/>
            <a:ext cx="3520440" cy="310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500" b="1" i="0">
                <a:solidFill>
                  <a:srgbClr val="F2F5FA"/>
                </a:solidFill>
                <a:latin typeface="Segoe UI Semibold"/>
              </a:rPr>
              <a:t>Key Insights</a:t>
            </a:r>
          </a:p>
        </p:txBody>
      </p:sp>
      <p:sp>
        <p:nvSpPr>
          <p:cNvPr id="58" name="Oval 57"/>
          <p:cNvSpPr/>
          <p:nvPr/>
        </p:nvSpPr>
        <p:spPr>
          <a:xfrm>
            <a:off x="7882127" y="1828800"/>
            <a:ext cx="164592" cy="164592"/>
          </a:xfrm>
          <a:prstGeom prst="ellipse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93024" y="1810512"/>
            <a:ext cx="3218688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1" i="0">
                <a:solidFill>
                  <a:srgbClr val="FF6B2B"/>
                </a:solidFill>
                <a:latin typeface="Segoe UI Semibold"/>
              </a:rPr>
              <a:t>Jaundice cluster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93024" y="2048255"/>
            <a:ext cx="3218688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Segoe UI"/>
              </a:rPr>
              <a:t>Yellowing of eyes + dark urine rank #1 and #2 — strong hepatitis discriminators.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882127" y="2578608"/>
            <a:ext cx="3474721" cy="0"/>
          </a:xfrm>
          <a:prstGeom prst="line">
            <a:avLst/>
          </a:prstGeom>
          <a:ln w="5080">
            <a:solidFill>
              <a:srgbClr val="282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7882127" y="2688336"/>
            <a:ext cx="164592" cy="164592"/>
          </a:xfrm>
          <a:prstGeom prst="ellipse">
            <a:avLst/>
          </a:prstGeom>
          <a:solidFill>
            <a:srgbClr val="F9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93024" y="2670048"/>
            <a:ext cx="3218688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1" i="0">
                <a:solidFill>
                  <a:srgbClr val="F96B6B"/>
                </a:solidFill>
                <a:latin typeface="Segoe UI Semibold"/>
              </a:rPr>
              <a:t>Age ranks #5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93024" y="2907791"/>
            <a:ext cx="3218688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Segoe UI"/>
              </a:rPr>
              <a:t>Confirms epidemiological prior knowledge adds real signal beyond symptoms alone.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882127" y="3438144"/>
            <a:ext cx="3474721" cy="0"/>
          </a:xfrm>
          <a:prstGeom prst="line">
            <a:avLst/>
          </a:prstGeom>
          <a:ln w="5080">
            <a:solidFill>
              <a:srgbClr val="282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7882127" y="3547872"/>
            <a:ext cx="164592" cy="164592"/>
          </a:xfrm>
          <a:prstGeom prst="ellipse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93024" y="3529584"/>
            <a:ext cx="3218688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1" i="0">
                <a:solidFill>
                  <a:srgbClr val="2DCEBF"/>
                </a:solidFill>
                <a:latin typeface="Segoe UI Semibold"/>
              </a:rPr>
              <a:t>Fever-adjacent features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767328"/>
            <a:ext cx="3218688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Segoe UI"/>
              </a:rPr>
              <a:t>Sweating, chills, high fever rank high but are less unique — shared across many diseases.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7882127" y="4297680"/>
            <a:ext cx="3474721" cy="0"/>
          </a:xfrm>
          <a:prstGeom prst="line">
            <a:avLst/>
          </a:prstGeom>
          <a:ln w="5080">
            <a:solidFill>
              <a:srgbClr val="282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7882127" y="4407407"/>
            <a:ext cx="164592" cy="164592"/>
          </a:xfrm>
          <a:prstGeom prst="ellipse">
            <a:avLst/>
          </a:prstGeom>
          <a:solidFill>
            <a:srgbClr val="5B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93024" y="4389120"/>
            <a:ext cx="3218688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1" i="0">
                <a:solidFill>
                  <a:srgbClr val="5BA8FF"/>
                </a:solidFill>
                <a:latin typeface="Segoe UI Semibold"/>
              </a:rPr>
              <a:t>Severity matters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93024" y="4626864"/>
            <a:ext cx="3218688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Segoe UI"/>
              </a:rPr>
              <a:t>Continuous severity weights give each symptom a gradient signal, not just binary presence.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7882127" y="5157216"/>
            <a:ext cx="3474721" cy="0"/>
          </a:xfrm>
          <a:prstGeom prst="line">
            <a:avLst/>
          </a:prstGeom>
          <a:ln w="5080">
            <a:solidFill>
              <a:srgbClr val="282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7882127" y="5266943"/>
            <a:ext cx="164592" cy="164592"/>
          </a:xfrm>
          <a:prstGeom prst="ellipse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93024" y="5248655"/>
            <a:ext cx="3218688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1" i="0">
                <a:solidFill>
                  <a:srgbClr val="3DD68C"/>
                </a:solidFill>
                <a:latin typeface="Segoe UI Semibold"/>
              </a:rPr>
              <a:t>Clinical alignment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93024" y="5486399"/>
            <a:ext cx="3218688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Segoe UI"/>
              </a:rPr>
              <a:t>The importance ranking matches known clinical diagnostic hierarchies for these diseases.</a:t>
            </a:r>
          </a:p>
        </p:txBody>
      </p:sp>
    </p:spTree>
  </p:cSld>
  <p:clrMapOvr>
    <a:masterClrMapping/>
  </p:clrMapOvr>
  <p:timing>
    <p:tnLst>
      <p:par>
        <p:cTn id="101" dur="indefinite" restart="whenNotActive" nodeType="tmRoot">
          <p:childTnLst>
            <p:seq concurrent="1" nextAc="seek">
              <p:cTn id="102" dur="indefinite" nodeType="mainSeq">
                <p:childTnLst>
                  <p:par>
                    <p:cTn id="103" fill="hold" nodeType="afterEffect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6" dur="55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afterEffect">
                      <p:stCondLst>
                        <p:cond delay="20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0" dur="5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n val="102"/>
                </p:cond>
              </p:nextCondLst>
            </p:seq>
          </p:childTnLst>
        </p:cTn>
      </p:par>
    </p:tnLst>
  </p:timing>
  <p:transition dur="650">
    <p:wipe dir="l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128016"/>
            <a:ext cx="1417320" cy="274320"/>
          </a:xfrm>
          <a:prstGeom prst="round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137160"/>
            <a:ext cx="320040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50" b="1" i="0">
                <a:solidFill>
                  <a:srgbClr val="070B14"/>
                </a:solidFill>
                <a:latin typeface="Segoe UI Semibold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74552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800" b="1" i="0">
                <a:solidFill>
                  <a:srgbClr val="F2F5FA"/>
                </a:solidFill>
                <a:latin typeface="Segoe UI Semibold"/>
              </a:rPr>
              <a:t>Strengths &amp;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96112"/>
            <a:ext cx="9245132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Segoe UI"/>
              </a:rPr>
              <a:t>What the numbers mean and where the current system can still improve.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28816"/>
            <a:ext cx="12188952" cy="9144"/>
          </a:xfrm>
          <a:prstGeom prst="rect">
            <a:avLst/>
          </a:prstGeom>
          <a:solidFill>
            <a:srgbClr val="282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50" b="0" i="0">
                <a:solidFill>
                  <a:srgbClr val="8A94A6"/>
                </a:solidFill>
                <a:latin typeface="Segoe UI"/>
              </a:rPr>
              <a:t>Disease Prediction System  ·  Using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59752" y="6565392"/>
            <a:ext cx="45720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750" b="0" i="0">
                <a:solidFill>
                  <a:srgbClr val="8A94A6"/>
                </a:solidFill>
                <a:latin typeface="Segoe UI"/>
              </a:rPr>
              <a:t>MLC-2  |  CSE 3968  |  ITER, SOA University  |  May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" y="1179576"/>
            <a:ext cx="5454396" cy="4919472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115568"/>
            <a:ext cx="5454396" cy="4919472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170432"/>
            <a:ext cx="50292" cy="4809744"/>
          </a:xfrm>
          <a:prstGeom prst="rect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1115568"/>
            <a:ext cx="5454396" cy="457200"/>
          </a:xfrm>
          <a:prstGeom prst="roundRect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188720"/>
            <a:ext cx="5180076" cy="310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1" i="0">
                <a:solidFill>
                  <a:srgbClr val="070B14"/>
                </a:solidFill>
                <a:latin typeface="Segoe UI Semibold"/>
              </a:rPr>
              <a:t>✓  What Works Well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1709928"/>
            <a:ext cx="5180076" cy="749808"/>
          </a:xfrm>
          <a:prstGeom prst="roundRect">
            <a:avLst/>
          </a:prstGeom>
          <a:solidFill>
            <a:srgbClr val="0C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1783080"/>
            <a:ext cx="4978908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1" i="0">
                <a:solidFill>
                  <a:srgbClr val="3DD68C"/>
                </a:solidFill>
                <a:latin typeface="Segoe UI Semibold"/>
              </a:rPr>
              <a:t>Severity encoding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039112"/>
            <a:ext cx="4978908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50" b="0" i="0">
                <a:solidFill>
                  <a:srgbClr val="8A94A6"/>
                </a:solidFill>
                <a:latin typeface="Segoe UI"/>
              </a:rPr>
              <a:t>Outperforms binary encoding — each symptom contributes a continuous clinical weight.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551176"/>
            <a:ext cx="5180076" cy="749808"/>
          </a:xfrm>
          <a:prstGeom prst="roundRect">
            <a:avLst/>
          </a:prstGeom>
          <a:solidFill>
            <a:srgbClr val="0C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624328"/>
            <a:ext cx="4978908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1" i="0">
                <a:solidFill>
                  <a:srgbClr val="3DD68C"/>
                </a:solidFill>
                <a:latin typeface="Segoe UI Semibold"/>
              </a:rPr>
              <a:t>Age feature (#5 rank)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2880360"/>
            <a:ext cx="4978908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50" b="0" i="0">
                <a:solidFill>
                  <a:srgbClr val="8A94A6"/>
                </a:solidFill>
                <a:latin typeface="Segoe UI"/>
              </a:rPr>
              <a:t>Epidemiological priors add real discriminative power, confirmed by importance scores.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392424"/>
            <a:ext cx="5180076" cy="749808"/>
          </a:xfrm>
          <a:prstGeom prst="roundRect">
            <a:avLst/>
          </a:prstGeom>
          <a:solidFill>
            <a:srgbClr val="0C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465576"/>
            <a:ext cx="4978908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1" i="0">
                <a:solidFill>
                  <a:srgbClr val="3DD68C"/>
                </a:solidFill>
                <a:latin typeface="Segoe UI Semibold"/>
              </a:rPr>
              <a:t>50% dropout training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721608"/>
            <a:ext cx="4978908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50" b="0" i="0">
                <a:solidFill>
                  <a:srgbClr val="8A94A6"/>
                </a:solidFill>
                <a:latin typeface="Segoe UI"/>
              </a:rPr>
              <a:t>Models are robust to missing symptoms at test time — realistic clinical behaviour.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233672"/>
            <a:ext cx="5180076" cy="749808"/>
          </a:xfrm>
          <a:prstGeom prst="roundRect">
            <a:avLst/>
          </a:prstGeom>
          <a:solidFill>
            <a:srgbClr val="0C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06824"/>
            <a:ext cx="4978908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1" i="0">
                <a:solidFill>
                  <a:srgbClr val="3DD68C"/>
                </a:solidFill>
                <a:latin typeface="Segoe UI Semibold"/>
              </a:rPr>
              <a:t>Balanced dataset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62856"/>
            <a:ext cx="4978908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50" b="0" i="0">
                <a:solidFill>
                  <a:srgbClr val="8A94A6"/>
                </a:solidFill>
                <a:latin typeface="Segoe UI"/>
              </a:rPr>
              <a:t>All 41 classes have ~120 records → accuracy is a meaningful metric here.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5074920"/>
            <a:ext cx="5180076" cy="749808"/>
          </a:xfrm>
          <a:prstGeom prst="roundRect">
            <a:avLst/>
          </a:prstGeom>
          <a:solidFill>
            <a:srgbClr val="0C1A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48072"/>
            <a:ext cx="4978908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1" i="0">
                <a:solidFill>
                  <a:srgbClr val="3DD68C"/>
                </a:solidFill>
                <a:latin typeface="Segoe UI Semibold"/>
              </a:rPr>
              <a:t>Stacking passthrough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04104"/>
            <a:ext cx="4978908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50" b="0" i="0">
                <a:solidFill>
                  <a:srgbClr val="8A94A6"/>
                </a:solidFill>
                <a:latin typeface="Segoe UI"/>
              </a:rPr>
              <a:t>Meta-learner corrects cases where all base models agree but are wrong.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32220" y="1179576"/>
            <a:ext cx="5454396" cy="4919472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77356" y="1115568"/>
            <a:ext cx="5454396" cy="4919472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77356" y="1170432"/>
            <a:ext cx="50292" cy="4809744"/>
          </a:xfrm>
          <a:prstGeom prst="rect">
            <a:avLst/>
          </a:prstGeom>
          <a:solidFill>
            <a:srgbClr val="F9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277356" y="1115568"/>
            <a:ext cx="5454396" cy="457200"/>
          </a:xfrm>
          <a:prstGeom prst="roundRect">
            <a:avLst/>
          </a:prstGeom>
          <a:solidFill>
            <a:srgbClr val="F9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8524" y="1188720"/>
            <a:ext cx="5180076" cy="310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400" b="1" i="0">
                <a:solidFill>
                  <a:srgbClr val="070B14"/>
                </a:solidFill>
                <a:latin typeface="Segoe UI Semibold"/>
              </a:rPr>
              <a:t>✗  Current Limitations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60236" y="1709928"/>
            <a:ext cx="5180076" cy="749808"/>
          </a:xfrm>
          <a:prstGeom prst="roundRect">
            <a:avLst/>
          </a:prstGeom>
          <a:solidFill>
            <a:srgbClr val="1A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7396" y="1783080"/>
            <a:ext cx="4978908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1" i="0">
                <a:solidFill>
                  <a:srgbClr val="F96B6B"/>
                </a:solidFill>
                <a:latin typeface="Segoe UI Semibold"/>
              </a:rPr>
              <a:t>Structured checklist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7396" y="2039112"/>
            <a:ext cx="4978908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50" b="0" i="0">
                <a:solidFill>
                  <a:srgbClr val="8A94A6"/>
                </a:solidFill>
                <a:latin typeface="Segoe UI"/>
              </a:rPr>
              <a:t>Patients describe symptoms in natural language — not ticked checkboxes.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60236" y="2551176"/>
            <a:ext cx="5180076" cy="749808"/>
          </a:xfrm>
          <a:prstGeom prst="roundRect">
            <a:avLst/>
          </a:prstGeom>
          <a:solidFill>
            <a:srgbClr val="1A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97396" y="2624328"/>
            <a:ext cx="4978908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1" i="0">
                <a:solidFill>
                  <a:srgbClr val="F96B6B"/>
                </a:solidFill>
                <a:latin typeface="Segoe UI Semibold"/>
              </a:rPr>
              <a:t>Hepatitis variants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97396" y="2880360"/>
            <a:ext cx="4978908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50" b="0" i="0">
                <a:solidFill>
                  <a:srgbClr val="8A94A6"/>
                </a:solidFill>
                <a:latin typeface="Segoe UI"/>
              </a:rPr>
              <a:t>B / C / D / E still confused — lab tests needed for final differentiation.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60236" y="3392424"/>
            <a:ext cx="5180076" cy="749808"/>
          </a:xfrm>
          <a:prstGeom prst="roundRect">
            <a:avLst/>
          </a:prstGeom>
          <a:solidFill>
            <a:srgbClr val="1A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97396" y="3465576"/>
            <a:ext cx="4978908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1" i="0">
                <a:solidFill>
                  <a:srgbClr val="F96B6B"/>
                </a:solidFill>
                <a:latin typeface="Segoe UI Semibold"/>
              </a:rPr>
              <a:t>No hyperparameter tuning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97396" y="3721608"/>
            <a:ext cx="4978908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50" b="0" i="0">
                <a:solidFill>
                  <a:srgbClr val="8A94A6"/>
                </a:solidFill>
                <a:latin typeface="Segoe UI"/>
              </a:rPr>
              <a:t>Optuna / GridSearchCV could push accuracy beyond current levels.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60236" y="4233672"/>
            <a:ext cx="5180076" cy="749808"/>
          </a:xfrm>
          <a:prstGeom prst="roundRect">
            <a:avLst/>
          </a:prstGeom>
          <a:solidFill>
            <a:srgbClr val="1A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97396" y="4306824"/>
            <a:ext cx="4978908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1" i="0">
                <a:solidFill>
                  <a:srgbClr val="F96B6B"/>
                </a:solidFill>
                <a:latin typeface="Segoe UI Semibold"/>
              </a:rPr>
              <a:t>Synthetic-style data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97396" y="4562856"/>
            <a:ext cx="4978908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50" b="0" i="0">
                <a:solidFill>
                  <a:srgbClr val="8A94A6"/>
                </a:solidFill>
                <a:latin typeface="Segoe UI"/>
              </a:rPr>
              <a:t>Clean, structured labels — real clinical records are significantly noisier.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60236" y="5074920"/>
            <a:ext cx="5180076" cy="749808"/>
          </a:xfrm>
          <a:prstGeom prst="roundRect">
            <a:avLst/>
          </a:prstGeom>
          <a:solidFill>
            <a:srgbClr val="1A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97396" y="5148072"/>
            <a:ext cx="4978908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1" i="0">
                <a:solidFill>
                  <a:srgbClr val="F96B6B"/>
                </a:solidFill>
                <a:latin typeface="Segoe UI Semibold"/>
              </a:rPr>
              <a:t>No vital signs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97396" y="5404104"/>
            <a:ext cx="4978908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950" b="0" i="0">
                <a:solidFill>
                  <a:srgbClr val="8A94A6"/>
                </a:solidFill>
                <a:latin typeface="Segoe UI"/>
              </a:rPr>
              <a:t>No gender, blood pressure, temperature, or lab values as features yet.</a:t>
            </a:r>
          </a:p>
        </p:txBody>
      </p:sp>
    </p:spTree>
  </p:cSld>
  <p:clrMapOvr>
    <a:masterClrMapping/>
  </p:clrMapOvr>
  <p:timing>
    <p:tnLst>
      <p:par>
        <p:cTn id="101" dur="indefinite" restart="whenNotActive" nodeType="tmRoot">
          <p:childTnLst>
            <p:seq concurrent="1" nextAc="seek">
              <p:cTn id="102" dur="indefinite" nodeType="mainSeq">
                <p:childTnLst>
                  <p:par>
                    <p:cTn id="103" fill="hold" nodeType="afterEffect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6" dur="52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afterEffect">
                      <p:stCondLst>
                        <p:cond delay="16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0" dur="52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n val="102"/>
                </p:cond>
              </p:nextCondLst>
            </p:seq>
          </p:childTnLst>
        </p:cTn>
      </p:par>
    </p:tnLst>
  </p:timing>
  <p:transition dur="700">
    <p:fade thruBlk="0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5B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128016"/>
            <a:ext cx="1101852" cy="274320"/>
          </a:xfrm>
          <a:prstGeom prst="round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137160"/>
            <a:ext cx="320040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850" b="1" i="0">
                <a:solidFill>
                  <a:srgbClr val="070B14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74552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800" b="1" i="0">
                <a:solidFill>
                  <a:srgbClr val="F2F5FA"/>
                </a:solidFill>
                <a:latin typeface="Segoe UI Semibold"/>
              </a:rPr>
              <a:t>Future Scope &amp; Deployment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96112"/>
            <a:ext cx="9245132" cy="2011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00" b="0" i="0">
                <a:solidFill>
                  <a:srgbClr val="8A94A6"/>
                </a:solidFill>
                <a:latin typeface="Segoe UI"/>
              </a:rPr>
              <a:t>From academic prototype to a deployable clinical decision-support product.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28816"/>
            <a:ext cx="12188952" cy="9144"/>
          </a:xfrm>
          <a:prstGeom prst="rect">
            <a:avLst/>
          </a:prstGeom>
          <a:solidFill>
            <a:srgbClr val="282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50" b="0" i="0">
                <a:solidFill>
                  <a:srgbClr val="8A94A6"/>
                </a:solidFill>
                <a:latin typeface="Segoe UI"/>
              </a:rPr>
              <a:t>Disease Prediction System  ·  Using 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59752" y="6565392"/>
            <a:ext cx="45720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750" b="0" i="0">
                <a:solidFill>
                  <a:srgbClr val="8A94A6"/>
                </a:solidFill>
                <a:latin typeface="Segoe UI"/>
              </a:rPr>
              <a:t>MLC-2  |  CSE 3968  |  ITER, SOA University  |  May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" y="1179576"/>
            <a:ext cx="3605784" cy="193852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115568"/>
            <a:ext cx="3605784" cy="193852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170432"/>
            <a:ext cx="50292" cy="1828800"/>
          </a:xfrm>
          <a:prstGeom prst="rect">
            <a:avLst/>
          </a:prstGeom>
          <a:solidFill>
            <a:srgbClr val="5B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1316736"/>
            <a:ext cx="384048" cy="384048"/>
          </a:xfrm>
          <a:prstGeom prst="ellipse">
            <a:avLst/>
          </a:prstGeom>
          <a:solidFill>
            <a:srgbClr val="5B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393545"/>
            <a:ext cx="384048" cy="21122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100" b="1" i="0">
                <a:solidFill>
                  <a:srgbClr val="070B14"/>
                </a:solidFill>
                <a:latin typeface="Segoe UI Black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7" y="1316736"/>
            <a:ext cx="2709672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300" b="1" i="0">
                <a:solidFill>
                  <a:srgbClr val="F2F5FA"/>
                </a:solidFill>
                <a:latin typeface="Segoe UI Semibold"/>
              </a:rPr>
              <a:t>Hyperparameter Tuning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1755648"/>
            <a:ext cx="3276600" cy="11521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8A94A6"/>
                </a:solidFill>
                <a:latin typeface="Segoe UI"/>
              </a:rPr>
              <a:t>Optuna / GridSearchCV on XGB depth and LR regularisation constant 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6448" y="1179576"/>
            <a:ext cx="3605784" cy="193852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1584" y="1115568"/>
            <a:ext cx="3605784" cy="193852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1584" y="1170432"/>
            <a:ext cx="50292" cy="1828800"/>
          </a:xfrm>
          <a:prstGeom prst="rect">
            <a:avLst/>
          </a:prstGeom>
          <a:solidFill>
            <a:srgbClr val="BD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92752" y="1316736"/>
            <a:ext cx="384048" cy="384048"/>
          </a:xfrm>
          <a:prstGeom prst="ellipse">
            <a:avLst/>
          </a:prstGeom>
          <a:solidFill>
            <a:srgbClr val="BD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92752" y="1393545"/>
            <a:ext cx="384048" cy="21122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100" b="1" i="0">
                <a:solidFill>
                  <a:srgbClr val="070B14"/>
                </a:solidFill>
                <a:latin typeface="Segoe UI Black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1392" y="1316736"/>
            <a:ext cx="2709672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300" b="1" i="0">
                <a:solidFill>
                  <a:srgbClr val="F2F5FA"/>
                </a:solidFill>
                <a:latin typeface="Segoe UI Semibold"/>
              </a:rPr>
              <a:t>Neural Networks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2752" y="1755648"/>
            <a:ext cx="3276600" cy="11521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8A94A6"/>
                </a:solidFill>
                <a:latin typeface="Segoe UI"/>
              </a:rPr>
              <a:t>MLP or Transformer encoder for higher-order symptom co-occurrence patterns.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0832" y="1179576"/>
            <a:ext cx="3605784" cy="193852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25968" y="1115568"/>
            <a:ext cx="3605784" cy="193852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25968" y="1170432"/>
            <a:ext cx="50292" cy="1828800"/>
          </a:xfrm>
          <a:prstGeom prst="rect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27136" y="1316736"/>
            <a:ext cx="384048" cy="384048"/>
          </a:xfrm>
          <a:prstGeom prst="ellipse">
            <a:avLst/>
          </a:prstGeom>
          <a:solidFill>
            <a:srgbClr val="2DCE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7136" y="1393545"/>
            <a:ext cx="384048" cy="21122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100" b="1" i="0">
                <a:solidFill>
                  <a:srgbClr val="070B14"/>
                </a:solidFill>
                <a:latin typeface="Segoe UI Black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75776" y="1316736"/>
            <a:ext cx="2709672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300" b="1" i="0">
                <a:solidFill>
                  <a:srgbClr val="F2F5FA"/>
                </a:solidFill>
                <a:latin typeface="Segoe UI Semibold"/>
              </a:rPr>
              <a:t>SHAP Explainability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7136" y="1755648"/>
            <a:ext cx="3276600" cy="11521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8A94A6"/>
                </a:solidFill>
                <a:latin typeface="Segoe UI"/>
              </a:rPr>
              <a:t>Per-patient "why" explanations — critical for clinical trust and auditability.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2064" y="3392423"/>
            <a:ext cx="3605784" cy="193852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3328415"/>
            <a:ext cx="3605784" cy="193852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383279"/>
            <a:ext cx="50292" cy="1828800"/>
          </a:xfrm>
          <a:prstGeom prst="rect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529584"/>
            <a:ext cx="384048" cy="384048"/>
          </a:xfrm>
          <a:prstGeom prst="ellipse">
            <a:avLst/>
          </a:prstGeom>
          <a:solidFill>
            <a:srgbClr val="3DD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606393"/>
            <a:ext cx="384048" cy="21122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100" b="1" i="0">
                <a:solidFill>
                  <a:srgbClr val="070B14"/>
                </a:solidFill>
                <a:latin typeface="Segoe UI Black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07007" y="3529584"/>
            <a:ext cx="2709672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300" b="1" i="0">
                <a:solidFill>
                  <a:srgbClr val="F2F5FA"/>
                </a:solidFill>
                <a:latin typeface="Segoe UI Semibold"/>
              </a:rPr>
              <a:t>Web Deployment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3968496"/>
            <a:ext cx="3276600" cy="11521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8A94A6"/>
                </a:solidFill>
                <a:latin typeface="Segoe UI"/>
              </a:rPr>
              <a:t>FastAPI backend + React symptom-input form → working prototype in a browser.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46448" y="3392423"/>
            <a:ext cx="3605784" cy="193852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291584" y="3328415"/>
            <a:ext cx="3605784" cy="193852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91584" y="3383279"/>
            <a:ext cx="50292" cy="1828800"/>
          </a:xfrm>
          <a:prstGeom prst="rect">
            <a:avLst/>
          </a:prstGeom>
          <a:solidFill>
            <a:srgbClr val="FFB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492752" y="3529584"/>
            <a:ext cx="384048" cy="384048"/>
          </a:xfrm>
          <a:prstGeom prst="ellipse">
            <a:avLst/>
          </a:prstGeom>
          <a:solidFill>
            <a:srgbClr val="FFB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92752" y="3606393"/>
            <a:ext cx="384048" cy="21122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100" b="1" i="0">
                <a:solidFill>
                  <a:srgbClr val="070B14"/>
                </a:solidFill>
                <a:latin typeface="Segoe UI Black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41392" y="3529584"/>
            <a:ext cx="2709672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300" b="1" i="0">
                <a:solidFill>
                  <a:srgbClr val="F2F5FA"/>
                </a:solidFill>
                <a:latin typeface="Segoe UI Semibold"/>
              </a:rPr>
              <a:t>Richer Patient Data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92752" y="3968496"/>
            <a:ext cx="3276600" cy="11521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8A94A6"/>
                </a:solidFill>
                <a:latin typeface="Segoe UI"/>
              </a:rPr>
              <a:t>Add gender, blood pressure, temperature, and basic lab values (CBC, LFT).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80832" y="3392423"/>
            <a:ext cx="3605784" cy="1938528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125968" y="3328415"/>
            <a:ext cx="3605784" cy="1938528"/>
          </a:xfrm>
          <a:prstGeom prst="roundRect">
            <a:avLst/>
          </a:prstGeom>
          <a:solidFill>
            <a:srgbClr val="101522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125968" y="3383279"/>
            <a:ext cx="50292" cy="18288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327136" y="3529584"/>
            <a:ext cx="384048" cy="384048"/>
          </a:xfrm>
          <a:prstGeom prst="ellipse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27136" y="3606393"/>
            <a:ext cx="384048" cy="21122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100" b="1" i="0">
                <a:solidFill>
                  <a:srgbClr val="070B14"/>
                </a:solidFill>
                <a:latin typeface="Segoe UI Black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75776" y="3529584"/>
            <a:ext cx="2709672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300" b="1" i="0">
                <a:solidFill>
                  <a:srgbClr val="F2F5FA"/>
                </a:solidFill>
                <a:latin typeface="Segoe UI Semibold"/>
              </a:rPr>
              <a:t>Clinical NLP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7136" y="3968496"/>
            <a:ext cx="3276600" cy="11521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050" b="0" i="0">
                <a:solidFill>
                  <a:srgbClr val="8A94A6"/>
                </a:solidFill>
                <a:latin typeface="Segoe UI"/>
              </a:rPr>
              <a:t>Extract symptoms from free-text discharge summaries via NLP / LLM pipeline.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5961888"/>
            <a:ext cx="11274552" cy="384048"/>
          </a:xfrm>
          <a:prstGeom prst="roundRect">
            <a:avLst/>
          </a:prstGeom>
          <a:solidFill>
            <a:srgbClr val="101A2A"/>
          </a:solidFill>
          <a:ln w="15240">
            <a:solidFill>
              <a:srgbClr val="5B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5800" y="6016752"/>
            <a:ext cx="10817352" cy="29260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100" b="1" i="0">
                <a:solidFill>
                  <a:srgbClr val="5BA8FF"/>
                </a:solidFill>
                <a:latin typeface="Segoe UI"/>
              </a:rPr>
              <a:t>Applications:  GP clinics  ·  Remote health workers  ·  Symptom checker apps  ·  Hospital triage  ·  Medical education tools</a:t>
            </a:r>
          </a:p>
        </p:txBody>
      </p:sp>
    </p:spTree>
  </p:cSld>
  <p:clrMapOvr>
    <a:masterClrMapping/>
  </p:clrMapOvr>
  <p:timing>
    <p:tnLst>
      <p:par>
        <p:cTn id="101" dur="indefinite" restart="whenNotActive" nodeType="tmRoot">
          <p:childTnLst>
            <p:seq concurrent="1" nextAc="seek">
              <p:cTn id="102" dur="indefinite" nodeType="mainSeq">
                <p:childTnLst>
                  <p:par>
                    <p:cTn id="103" fill="hold" nodeType="afterEffect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InFromBottom">
                                      <p:cBhvr>
                                        <p:cTn id="106" dur="45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afterEffect">
                      <p:stCondLst>
                        <p:cond delay="11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InFromBottom">
                                      <p:cBhvr>
                                        <p:cTn id="110" dur="45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 nodeType="afterEffect">
                      <p:stCondLst>
                        <p:cond delay="22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InFromBottom">
                                      <p:cBhvr>
                                        <p:cTn id="114" dur="45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afterEffect">
                      <p:stCondLst>
                        <p:cond delay="330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InFromBottom">
                                      <p:cBhvr>
                                        <p:cTn id="118" dur="45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 nodeType="afterEffect">
                      <p:stCondLst>
                        <p:cond delay="440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InFromBottom">
                                      <p:cBhvr>
                                        <p:cTn id="122" dur="45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 nodeType="afterEffect">
                      <p:stCondLst>
                        <p:cond delay="55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lyInFromBottom">
                                      <p:cBhvr>
                                        <p:cTn id="126" dur="45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 nodeType="afterEffect">
                      <p:stCondLst>
                        <p:cond delay="700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0" dur="45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n val="102"/>
                </p:cond>
              </p:nextCondLst>
            </p:seq>
          </p:childTnLst>
        </p:cTn>
      </p:par>
    </p:tnLst>
  </p:timing>
  <p:transition dur="650">
    <p:push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"/>
            <a:ext cx="12188952" cy="1005840"/>
          </a:xfrm>
          <a:prstGeom prst="rect">
            <a:avLst/>
          </a:prstGeom>
          <a:solidFill>
            <a:srgbClr val="140C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64592"/>
            <a:ext cx="1545336" cy="246888"/>
          </a:xfrm>
          <a:prstGeom prst="roundRect">
            <a:avLst/>
          </a:prstGeom>
          <a:solidFill>
            <a:srgbClr val="FF6B2B"/>
          </a:solidFill>
          <a:ln>
            <a:noFill/>
          </a:ln>
          <a:effectLst>
            <a:outerShdw blurRad="40000" dist="12000" dir="5400000" algn="tl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01168"/>
            <a:ext cx="1380744" cy="164592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780" b="1" i="0">
                <a:solidFill>
                  <a:srgbClr val="070B14"/>
                </a:solidFill>
                <a:latin typeface="Segoe UI Semibold"/>
              </a:rPr>
              <a:t>FINAL TAKEAWAY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8229600" cy="56692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3000" b="1" i="0">
                <a:solidFill>
                  <a:srgbClr val="F2F5FA"/>
                </a:solidFill>
                <a:latin typeface="Segoe UI Semibold"/>
              </a:rPr>
              <a:t>From Symptoms to Confident Prediction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2647188" cy="896112"/>
          </a:xfrm>
          <a:prstGeom prst="roundRect">
            <a:avLst/>
          </a:prstGeom>
          <a:solidFill>
            <a:srgbClr val="141926"/>
          </a:solidFill>
          <a:ln w="19050">
            <a:solidFill>
              <a:srgbClr val="F9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2647188" cy="310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50" b="0" i="0">
                <a:solidFill>
                  <a:srgbClr val="C8D0DE"/>
                </a:solidFill>
                <a:latin typeface="Segoe UI"/>
              </a:rPr>
              <a:t>Decision Tree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27048"/>
            <a:ext cx="2647188" cy="42062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900" b="1" i="0">
                <a:solidFill>
                  <a:srgbClr val="F96B6B"/>
                </a:solidFill>
                <a:latin typeface="Segoe UI Black"/>
              </a:rPr>
              <a:t>85.58 %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2988" y="1188720"/>
            <a:ext cx="2647188" cy="896112"/>
          </a:xfrm>
          <a:prstGeom prst="roundRect">
            <a:avLst/>
          </a:prstGeom>
          <a:solidFill>
            <a:srgbClr val="141926"/>
          </a:solidFill>
          <a:ln w="19050">
            <a:solidFill>
              <a:srgbClr val="5BA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2988" y="1234440"/>
            <a:ext cx="2647188" cy="310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50" b="0" i="0">
                <a:solidFill>
                  <a:srgbClr val="C8D0DE"/>
                </a:solidFill>
                <a:latin typeface="Segoe UI"/>
              </a:rPr>
              <a:t>XGBoost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2988" y="1527048"/>
            <a:ext cx="2647188" cy="42062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900" b="1" i="0">
                <a:solidFill>
                  <a:srgbClr val="5BA8FF"/>
                </a:solidFill>
                <a:latin typeface="Segoe UI Black"/>
              </a:rPr>
              <a:t>91.47 %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1188720"/>
            <a:ext cx="2647188" cy="896112"/>
          </a:xfrm>
          <a:prstGeom prst="roundRect">
            <a:avLst/>
          </a:prstGeom>
          <a:solidFill>
            <a:srgbClr val="141926"/>
          </a:solidFill>
          <a:ln w="19050">
            <a:solidFill>
              <a:srgbClr val="3DD6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08776" y="1234440"/>
            <a:ext cx="2647188" cy="310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50" b="0" i="0">
                <a:solidFill>
                  <a:srgbClr val="C8D0DE"/>
                </a:solidFill>
                <a:latin typeface="Segoe UI"/>
              </a:rPr>
              <a:t>Random Forest (200)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8776" y="1527048"/>
            <a:ext cx="2647188" cy="42062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900" b="1" i="0">
                <a:solidFill>
                  <a:srgbClr val="3DD68C"/>
                </a:solidFill>
                <a:latin typeface="Segoe UI Black"/>
              </a:rPr>
              <a:t>93.30 %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4564" y="1188720"/>
            <a:ext cx="2647188" cy="896112"/>
          </a:xfrm>
          <a:prstGeom prst="roundRect">
            <a:avLst/>
          </a:prstGeom>
          <a:solidFill>
            <a:srgbClr val="141926"/>
          </a:solidFill>
          <a:ln w="19050">
            <a:solidFill>
              <a:srgbClr val="FF6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4564" y="1234440"/>
            <a:ext cx="2647188" cy="310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50" b="0" i="0">
                <a:solidFill>
                  <a:srgbClr val="C8D0DE"/>
                </a:solidFill>
                <a:latin typeface="Segoe UI"/>
              </a:rPr>
              <a:t>Stacking Ensemble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4564" y="1527048"/>
            <a:ext cx="2647188" cy="42062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900" b="1" i="0">
                <a:solidFill>
                  <a:srgbClr val="FF6B2B"/>
                </a:solidFill>
                <a:latin typeface="Segoe UI Black"/>
              </a:rPr>
              <a:t>93.50 %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84564" y="1152144"/>
            <a:ext cx="2647188" cy="54864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286000"/>
            <a:ext cx="365760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500" b="1" i="0">
                <a:solidFill>
                  <a:srgbClr val="FF6B2B"/>
                </a:solidFill>
                <a:latin typeface="Segoe UI"/>
              </a:rPr>
              <a:t>Key Takeaways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" y="2606040"/>
            <a:ext cx="8046720" cy="0"/>
          </a:xfrm>
          <a:prstGeom prst="line">
            <a:avLst/>
          </a:prstGeom>
          <a:ln w="10160">
            <a:solidFill>
              <a:srgbClr val="282F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57200" y="2743200"/>
            <a:ext cx="8046720" cy="566928"/>
          </a:xfrm>
          <a:prstGeom prst="roundRect">
            <a:avLst/>
          </a:prstGeom>
          <a:solidFill>
            <a:srgbClr val="121624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03504" y="2926080"/>
            <a:ext cx="201168" cy="201168"/>
          </a:xfrm>
          <a:prstGeom prst="ellipse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2852928"/>
            <a:ext cx="7424927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100" b="0" i="0">
                <a:solidFill>
                  <a:srgbClr val="C8D0DE"/>
                </a:solidFill>
                <a:latin typeface="Segoe UI"/>
              </a:rPr>
              <a:t>Classical ML with thoughtful feature engineering stays highly competitive for structured medical data.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419856"/>
            <a:ext cx="8046720" cy="566928"/>
          </a:xfrm>
          <a:prstGeom prst="roundRect">
            <a:avLst/>
          </a:prstGeom>
          <a:solidFill>
            <a:srgbClr val="121624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3504" y="3602736"/>
            <a:ext cx="201168" cy="201168"/>
          </a:xfrm>
          <a:prstGeom prst="ellipse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3529584"/>
            <a:ext cx="7424927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100" b="0" i="0">
                <a:solidFill>
                  <a:srgbClr val="C8D0DE"/>
                </a:solidFill>
                <a:latin typeface="Segoe UI"/>
              </a:rPr>
              <a:t>Severity-weighted symptoms + epidemiological age outperform plain binary symptom encoding.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096512"/>
            <a:ext cx="8046720" cy="566928"/>
          </a:xfrm>
          <a:prstGeom prst="roundRect">
            <a:avLst/>
          </a:prstGeom>
          <a:solidFill>
            <a:srgbClr val="121624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03504" y="4279392"/>
            <a:ext cx="201168" cy="201168"/>
          </a:xfrm>
          <a:prstGeom prst="ellipse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4206240"/>
            <a:ext cx="7424927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100" b="0" i="0">
                <a:solidFill>
                  <a:srgbClr val="C8D0DE"/>
                </a:solidFill>
                <a:latin typeface="Segoe UI"/>
              </a:rPr>
              <a:t>Stacking Ensemble with passthrough=True squeezes residual errors that no single model corrects alone.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73168"/>
            <a:ext cx="8046720" cy="566928"/>
          </a:xfrm>
          <a:prstGeom prst="roundRect">
            <a:avLst/>
          </a:prstGeom>
          <a:solidFill>
            <a:srgbClr val="121624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03504" y="4956048"/>
            <a:ext cx="201168" cy="201168"/>
          </a:xfrm>
          <a:prstGeom prst="ellipse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4882896"/>
            <a:ext cx="7424927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100" b="0" i="0">
                <a:solidFill>
                  <a:srgbClr val="C8D0DE"/>
                </a:solidFill>
                <a:latin typeface="Segoe UI"/>
              </a:rPr>
              <a:t>50% dropout simulation makes the system robust to missing symptoms in real-world usage.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449824"/>
            <a:ext cx="8046720" cy="566928"/>
          </a:xfrm>
          <a:prstGeom prst="roundRect">
            <a:avLst/>
          </a:prstGeom>
          <a:solidFill>
            <a:srgbClr val="121624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03504" y="5632704"/>
            <a:ext cx="201168" cy="201168"/>
          </a:xfrm>
          <a:prstGeom prst="ellipse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5559552"/>
            <a:ext cx="7424927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100" b="0" i="0">
                <a:solidFill>
                  <a:srgbClr val="C8D0DE"/>
                </a:solidFill>
                <a:latin typeface="Segoe UI"/>
              </a:rPr>
              <a:t>Next step: web deployment with SHAP explanations for clinical interpretability.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53144" y="1252728"/>
            <a:ext cx="2651760" cy="4206240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098280" y="1188720"/>
            <a:ext cx="2651760" cy="4206240"/>
          </a:xfrm>
          <a:prstGeom prst="roundRect">
            <a:avLst/>
          </a:prstGeom>
          <a:solidFill>
            <a:srgbClr val="171D2C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98280" y="1243584"/>
            <a:ext cx="50292" cy="4096511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1920240"/>
            <a:ext cx="2651760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600" b="1" i="0">
                <a:solidFill>
                  <a:srgbClr val="FF6B2B"/>
                </a:solidFill>
                <a:latin typeface="Segoe UI Black"/>
              </a:rPr>
              <a:t>Questions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98280" y="2487168"/>
            <a:ext cx="2651760" cy="32918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600" b="1" i="0">
                <a:solidFill>
                  <a:srgbClr val="F2F5FA"/>
                </a:solidFill>
                <a:latin typeface="Segoe UI"/>
              </a:rPr>
              <a:t>Thank you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418320" y="2944368"/>
            <a:ext cx="2029968" cy="0"/>
          </a:xfrm>
          <a:prstGeom prst="line">
            <a:avLst/>
          </a:prstGeom>
          <a:ln w="17780">
            <a:solidFill>
              <a:srgbClr val="FF6B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098280" y="3108960"/>
            <a:ext cx="2651760" cy="237744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50" b="0" i="0">
                <a:solidFill>
                  <a:srgbClr val="8A94A6"/>
                </a:solidFill>
                <a:latin typeface="Segoe UI"/>
              </a:rPr>
              <a:t>Disease Prediction System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3438144"/>
            <a:ext cx="2651760" cy="219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00" b="0" i="0">
                <a:solidFill>
                  <a:srgbClr val="8A94A6"/>
                </a:solidFill>
                <a:latin typeface="Segoe UI"/>
              </a:rPr>
              <a:t>MLC-2  |  CSE 3968  |  ITER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98280" y="3657600"/>
            <a:ext cx="2651760" cy="219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900" b="0" i="0">
                <a:solidFill>
                  <a:srgbClr val="8A94A6"/>
                </a:solidFill>
                <a:latin typeface="Segoe UI"/>
              </a:rPr>
              <a:t>SOA University  |  May 2026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63456" y="4160520"/>
            <a:ext cx="2231136" cy="877824"/>
          </a:xfrm>
          <a:prstGeom prst="roundRect">
            <a:avLst/>
          </a:prstGeom>
          <a:solidFill>
            <a:srgbClr val="0204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308592" y="4096512"/>
            <a:ext cx="2231136" cy="877824"/>
          </a:xfrm>
          <a:prstGeom prst="roundRect">
            <a:avLst/>
          </a:prstGeom>
          <a:solidFill>
            <a:srgbClr val="171D2C"/>
          </a:solidFill>
          <a:ln w="12700">
            <a:solidFill>
              <a:srgbClr val="282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308592" y="4151376"/>
            <a:ext cx="50292" cy="768096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36608" y="4169664"/>
            <a:ext cx="1993391" cy="38624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2600" b="1" i="0">
                <a:solidFill>
                  <a:srgbClr val="FF6B2B"/>
                </a:solidFill>
                <a:latin typeface="Segoe UI Black"/>
              </a:rPr>
              <a:t>93.50%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00032" y="4640762"/>
            <a:ext cx="2048255" cy="2984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900" b="0" i="0">
                <a:solidFill>
                  <a:srgbClr val="8A94A6"/>
                </a:solidFill>
                <a:latin typeface="Segoe UI"/>
              </a:rPr>
              <a:t>Best model accuracy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28816"/>
            <a:ext cx="12188952" cy="9144"/>
          </a:xfrm>
          <a:prstGeom prst="rect">
            <a:avLst/>
          </a:prstGeom>
          <a:solidFill>
            <a:srgbClr val="282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750" b="0" i="0">
                <a:solidFill>
                  <a:srgbClr val="8A94A6"/>
                </a:solidFill>
                <a:latin typeface="Segoe UI"/>
              </a:rPr>
              <a:t>Disease Prediction System  ·  Using Machine Learning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59752" y="6565392"/>
            <a:ext cx="4572000" cy="228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750" b="0" i="0">
                <a:solidFill>
                  <a:srgbClr val="8A94A6"/>
                </a:solidFill>
                <a:latin typeface="Segoe UI"/>
              </a:rPr>
              <a:t>MLC-2  |  CSE 3968  |  ITER, SOA University  |  May 2026</a:t>
            </a:r>
          </a:p>
        </p:txBody>
      </p:sp>
    </p:spTree>
  </p:cSld>
  <p:clrMapOvr>
    <a:masterClrMapping/>
  </p:clrMapOvr>
  <p:timing>
    <p:tnLst>
      <p:par>
        <p:cTn id="101" dur="indefinite" restart="whenNotActive" nodeType="tmRoot">
          <p:childTnLst>
            <p:seq concurrent="1" nextAc="seek">
              <p:cTn id="102" dur="indefinite" nodeType="mainSeq">
                <p:childTnLst>
                  <p:par>
                    <p:cTn id="103" fill="hold" nodeType="afterEffect">
                      <p:stCondLst>
                        <p:cond delay="0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06" dur="4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 nodeType="afterEffect">
                      <p:stCondLst>
                        <p:cond delay="120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0" dur="4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 nodeType="afterEffect">
                      <p:stCondLst>
                        <p:cond delay="240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4" dur="4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 nodeType="afterEffect">
                      <p:stCondLst>
                        <p:cond delay="360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18" dur="4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 nodeType="afterEffect">
                      <p:stCondLst>
                        <p:cond delay="200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2" dur="43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 nodeType="afterEffect">
                      <p:stCondLst>
                        <p:cond delay="350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26" dur="43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 nodeType="afterEffect">
                      <p:stCondLst>
                        <p:cond delay="500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0" dur="43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 nodeType="afterEffect">
                      <p:stCondLst>
                        <p:cond delay="650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4" dur="43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 nodeType="afterEffect">
                      <p:stCondLst>
                        <p:cond delay="800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38" dur="43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 nodeType="afterEffect">
                      <p:stCondLst>
                        <p:cond delay="80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in" filter="fade">
                                      <p:cBhvr>
                                        <p:cTn id="142" dur="52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n val="102"/>
                </p:cond>
              </p:nextCondLst>
            </p:seq>
          </p:childTnLst>
        </p:cTn>
      </p:par>
    </p:tnLst>
  </p:timing>
  <p:transition dur="9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