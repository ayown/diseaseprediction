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502920"/>
          </a:xfrm>
          <a:prstGeom prst="rect">
            <a:avLst/>
          </a:prstGeom>
          <a:solidFill>
            <a:srgbClr val="00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502920"/>
          </a:xfrm>
          <a:prstGeom prst="rect">
            <a:avLst/>
          </a:prstGeom>
          <a:solidFill>
            <a:srgbClr val="00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1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SIKSHA 'O' ANUSANDHAN DEEMED TO BE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548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D8E0"/>
                </a:solidFill>
                <a:latin typeface="Calibri"/>
              </a:rPr>
              <a:t>Machine Learning Concept - 2  |  CSE 3968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4300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 Light"/>
              </a:rPr>
              <a:t>Disease Prediction System
Using Machine Learning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246120"/>
            <a:ext cx="9418320" cy="36576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429000"/>
            <a:ext cx="3383280" cy="685800"/>
          </a:xfrm>
          <a:prstGeom prst="rect">
            <a:avLst/>
          </a:prstGeom>
          <a:solidFill>
            <a:srgbClr val="06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5643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D8E0"/>
                </a:solidFill>
                <a:latin typeface="Calibri"/>
              </a:rPr>
              <a:t>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86F1E"/>
                </a:solidFill>
                <a:latin typeface="Calibri"/>
              </a:rPr>
              <a:t>DT · RF · XGB · Stacking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3429000"/>
            <a:ext cx="3383280" cy="685800"/>
          </a:xfrm>
          <a:prstGeom prst="rect">
            <a:avLst/>
          </a:prstGeom>
          <a:solidFill>
            <a:srgbClr val="06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345643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D8E0"/>
                </a:solidFill>
                <a:latin typeface="Calibri"/>
              </a:rPr>
              <a:t>Best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370332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86F1E"/>
                </a:solidFill>
                <a:latin typeface="Calibri"/>
              </a:rPr>
              <a:t>93.50 %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3429000"/>
            <a:ext cx="3383280" cy="685800"/>
          </a:xfrm>
          <a:prstGeom prst="rect">
            <a:avLst/>
          </a:prstGeom>
          <a:solidFill>
            <a:srgbClr val="06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45643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D8E0"/>
                </a:solidFill>
                <a:latin typeface="Calibri"/>
              </a:rPr>
              <a:t>Diseases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70332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86F1E"/>
                </a:solidFill>
                <a:latin typeface="Calibri"/>
              </a:rPr>
              <a:t>41 Classes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572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Calibri"/>
              </a:rPr>
              <a:t>Presented by:  NAME 1  ·  NAME 2  ·  NAME 3  ·  NAME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9834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BB"/>
                </a:solidFill>
                <a:latin typeface="Calibri"/>
              </a:rPr>
              <a:t>Department of Computer Science &amp; Engineering  |  ITER, SOA University  |  May 2026</a:t>
            </a:r>
          </a:p>
        </p:txBody>
      </p:sp>
    </p:spTree>
  </p:cSld>
  <p:clrMapOvr>
    <a:masterClrMapping/>
  </p:clrMapOvr>
  <p:transition dur="800" advTm="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914400"/>
          </a:xfrm>
          <a:prstGeom prst="rect">
            <a:avLst/>
          </a:prstGeom>
          <a:solidFill>
            <a:srgbClr val="00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 Light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34440"/>
            <a:ext cx="530352" cy="530352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34440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1188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4D56"/>
                </a:solidFill>
                <a:latin typeface="Calibri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15270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What disease prediction challenge are we solving?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542032"/>
            <a:ext cx="530352" cy="530352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542032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24963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4D56"/>
                </a:solidFill>
                <a:latin typeface="Calibri"/>
              </a:rPr>
              <a:t>Dataset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28346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4,925 records · 41 diseases · severity weights + 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849624"/>
            <a:ext cx="530352" cy="530352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849624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380390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4D56"/>
                </a:solidFill>
                <a:latin typeface="Calibri"/>
              </a:rPr>
              <a:t>Methodology /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19" y="41422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Data cleaning → feature engineering → 4 classifiers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5157216"/>
            <a:ext cx="530352" cy="530352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157216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" y="511149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4D56"/>
                </a:solidFill>
                <a:latin typeface="Calibri"/>
              </a:rPr>
              <a:t>Results &amp;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19" y="544982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Accuracy, precision, recall, confusion matrices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234440"/>
            <a:ext cx="530352" cy="530352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234440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1188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4D56"/>
                </a:solidFill>
                <a:latin typeface="Calibri"/>
              </a:rPr>
              <a:t>Feature Importance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15270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Which symptoms (and age) matter most?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542032"/>
            <a:ext cx="530352" cy="530352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2542032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24963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4D56"/>
                </a:solidFill>
                <a:latin typeface="Calibri"/>
              </a:rPr>
              <a:t>Discussion &amp; Future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28346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Limitations, next steps, deployment ideas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49624"/>
            <a:ext cx="530352" cy="530352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3849624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380390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4D56"/>
                </a:solidFill>
                <a:latin typeface="Calibri"/>
              </a:rPr>
              <a:t>Conclusion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41422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Key takeaways and recommendations</a:t>
            </a:r>
          </a:p>
        </p:txBody>
      </p:sp>
    </p:spTree>
  </p:cSld>
  <p:clrMapOvr>
    <a:masterClrMapping/>
  </p:clrMapOvr>
  <p:transition dur="600" advTm="0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914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55448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994400"/>
                </a:solidFill>
                <a:latin typeface="Calibri Light"/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1005840"/>
          </a:xfrm>
          <a:prstGeom prst="rect">
            <a:avLst/>
          </a:prstGeom>
          <a:solidFill>
            <a:srgbClr val="FDF6EC"/>
          </a:solidFill>
          <a:ln w="19050">
            <a:solidFill>
              <a:srgbClr val="E86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663300"/>
                </a:solidFill>
                <a:latin typeface="Calibri"/>
              </a:rPr>
              <a:t>"A patient reports: fever + joint pain + fatigue. Is it Malaria, Dengue, Typhoid, or Arthritis?"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331720"/>
            <a:ext cx="3749039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3749039" cy="320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35915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761488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41 overlapping disease classes with shared symptoms make accurate diagnosis difficult without lab tests.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8" y="2331720"/>
            <a:ext cx="3749039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2331720"/>
            <a:ext cx="3749039" cy="320040"/>
          </a:xfrm>
          <a:prstGeom prst="rect">
            <a:avLst/>
          </a:prstGeom>
          <a:solidFill>
            <a:srgbClr val="1F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235915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761488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Existing tools use binary symptom encoding — they miss severity nuance and patient age context.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66176" y="2331720"/>
            <a:ext cx="3749039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66176" y="2331720"/>
            <a:ext cx="3749039" cy="320040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6" y="235915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Our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3336" y="2761488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Severity-weighted features + epidemiological age + Stacking Ensemble to push beyond individual model limits.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846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4D56"/>
                </a:solidFill>
                <a:latin typeface="Calibri"/>
              </a:rPr>
              <a:t>Task: Given a 135-feature vector (severity-weighted symptoms + patient age), predict which of 41 diseases a patient most likely has.</a:t>
            </a:r>
          </a:p>
        </p:txBody>
      </p:sp>
    </p:spTree>
  </p:cSld>
  <p:clrMapOvr>
    <a:masterClrMapping/>
  </p:clrMapOvr>
  <p:transition dur="600" advTm="0">
    <p:wipe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914400"/>
          </a:xfrm>
          <a:prstGeom prst="rect">
            <a:avLst/>
          </a:prstGeom>
          <a:solidFill>
            <a:srgbClr val="00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Dataset &amp; Feature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210312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3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838A"/>
                </a:solidFill>
                <a:latin typeface="Calibri"/>
              </a:rPr>
              <a:t>4,925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764792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Calibri"/>
              </a:rPr>
              <a:t>Patient Records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143000"/>
            <a:ext cx="210312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3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39" y="118872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838A"/>
                </a:solidFill>
                <a:latin typeface="Calibri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39" y="1764792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Calibri"/>
              </a:rPr>
              <a:t>Disease Classes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59" y="1143000"/>
            <a:ext cx="210312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3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18872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838A"/>
                </a:solidFill>
                <a:latin typeface="Calibri"/>
              </a:rPr>
              <a:t>136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1764792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Calibri"/>
              </a:rPr>
              <a:t>Symptom Features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79" y="1143000"/>
            <a:ext cx="210312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3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79" y="118872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838A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79" y="1764792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Calibri"/>
              </a:rPr>
              <a:t>Age Feature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0" y="1143000"/>
            <a:ext cx="210312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3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0" y="118872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838A"/>
                </a:solidFill>
                <a:latin typeface="Calibri"/>
              </a:rPr>
              <a:t>135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1764792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Calibri"/>
              </a:rPr>
              <a:t>Final Features
(after variance filter)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423160"/>
            <a:ext cx="539496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3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2423160"/>
            <a:ext cx="5394960" cy="347472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2441448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Severity-Weighted Encoding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90779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Calibri"/>
              </a:rPr>
              <a:t>▸  Each symptom assigned weight 1–7 (not binary 0/1)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41071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Calibri"/>
              </a:rPr>
              <a:t>▸  0 = symptom absent for that patient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91363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Calibri"/>
              </a:rPr>
              <a:t>▸  136 symptom columns → one per unique symptom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441655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Calibri"/>
              </a:rPr>
              <a:t>▸  50% symptom dropout simulates real incomplete reporting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91947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Calibri"/>
              </a:rPr>
              <a:t>▸  Zero-variance features removed → 135 final features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9320" y="2423160"/>
            <a:ext cx="589788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6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89320" y="2423160"/>
            <a:ext cx="5897880" cy="347472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89320" y="2441448"/>
            <a:ext cx="5897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Age-Aware Feature (Novel Addition)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286207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4D56"/>
                </a:solidFill>
                <a:latin typeface="Calibri"/>
              </a:rPr>
              <a:t>Disease-specific epidemiological ranges: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236976"/>
            <a:ext cx="3017520" cy="38404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325526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Chicken pox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3236976"/>
            <a:ext cx="2377440" cy="384048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81160" y="3255264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6F1E"/>
                </a:solidFill>
                <a:latin typeface="Calibri"/>
              </a:rPr>
              <a:t>2 – 12 yrs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3712464"/>
            <a:ext cx="3017520" cy="38404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373075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Acne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2464"/>
            <a:ext cx="2377440" cy="384048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81160" y="373075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6F1E"/>
                </a:solidFill>
                <a:latin typeface="Calibri"/>
              </a:rPr>
              <a:t>13 – 25 yrs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4187952"/>
            <a:ext cx="3017520" cy="38404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0" y="4206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Diabetes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81160" y="4187952"/>
            <a:ext cx="2377440" cy="384048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81160" y="4206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6F1E"/>
                </a:solidFill>
                <a:latin typeface="Calibri"/>
              </a:rPr>
              <a:t>35 – 75 yrs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26480" y="4663440"/>
            <a:ext cx="3017520" cy="38404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72200" y="468172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Heart attack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81160" y="4663440"/>
            <a:ext cx="2377440" cy="384048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81160" y="4681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6F1E"/>
                </a:solidFill>
                <a:latin typeface="Calibri"/>
              </a:rPr>
              <a:t>45 – 80 yrs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26480" y="5138928"/>
            <a:ext cx="3017520" cy="38404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515721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Malaria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81160" y="5138928"/>
            <a:ext cx="2377440" cy="384048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81160" y="51572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6F1E"/>
                </a:solidFill>
                <a:latin typeface="Calibri"/>
              </a:rPr>
              <a:t>5 – 65 yrs</a:t>
            </a:r>
          </a:p>
        </p:txBody>
      </p:sp>
    </p:spTree>
  </p:cSld>
  <p:clrMapOvr>
    <a:masterClrMapping/>
  </p:clrMapOvr>
  <p:transition dur="700" advTm="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F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914400"/>
          </a:xfrm>
          <a:prstGeom prst="rect">
            <a:avLst/>
          </a:prstGeom>
          <a:solidFill>
            <a:srgbClr val="1F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End-to-End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70432"/>
            <a:ext cx="3749039" cy="166420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3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3749039" cy="329184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8872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8872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Load CSVs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35661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disease_raw.csv  +  symptom_severity.csv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41648" y="1810512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170432"/>
            <a:ext cx="3749039" cy="16642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170432"/>
            <a:ext cx="3749039" cy="329184"/>
          </a:xfrm>
          <a:prstGeom prst="rect">
            <a:avLst/>
          </a:prstGeom>
          <a:solidFill>
            <a:srgbClr val="1F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59" y="118872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118872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Feature 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399" y="1572768"/>
            <a:ext cx="35661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136-col severity-weighted symptom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9288" y="1810512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170432"/>
            <a:ext cx="3749039" cy="1664208"/>
          </a:xfrm>
          <a:prstGeom prst="rect">
            <a:avLst/>
          </a:prstGeom>
          <a:solidFill>
            <a:srgbClr val="FFFFFF"/>
          </a:solidFill>
          <a:ln w="19050">
            <a:solidFill>
              <a:srgbClr val="E86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170432"/>
            <a:ext cx="3749039" cy="329184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18872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18872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Add Age Feature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572768"/>
            <a:ext cx="35661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Sample from epidemiological age range/disease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044952"/>
            <a:ext cx="3749039" cy="1664208"/>
          </a:xfrm>
          <a:prstGeom prst="rect">
            <a:avLst/>
          </a:prstGeom>
          <a:solidFill>
            <a:srgbClr val="FFFFFF"/>
          </a:solidFill>
          <a:ln w="19050">
            <a:solidFill>
              <a:srgbClr val="7B6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3044952"/>
            <a:ext cx="3749039" cy="329184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306324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06324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50% Dropout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447288"/>
            <a:ext cx="35661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Randomly zero-out half of reported symptoms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41648" y="3685032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1959" y="3044952"/>
            <a:ext cx="3749039" cy="1664208"/>
          </a:xfrm>
          <a:prstGeom prst="rect">
            <a:avLst/>
          </a:prstGeom>
          <a:solidFill>
            <a:srgbClr val="FFFFFF"/>
          </a:solidFill>
          <a:ln w="19050">
            <a:solidFill>
              <a:srgbClr val="208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59" y="3044952"/>
            <a:ext cx="3749039" cy="329184"/>
          </a:xfrm>
          <a:prstGeom prst="rect">
            <a:avLst/>
          </a:prstGeom>
          <a:solidFill>
            <a:srgbClr val="208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51959" y="306324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79" y="306324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Label Encode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399" y="3447288"/>
            <a:ext cx="35661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prognosis  →  integer class index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9288" y="3685032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3044952"/>
            <a:ext cx="3749039" cy="1664208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0" y="3044952"/>
            <a:ext cx="3749039" cy="32918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306324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306324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Split 80/20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447288"/>
            <a:ext cx="35661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3,940 train  |  985 test  (stratified)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919472"/>
            <a:ext cx="3749039" cy="1664208"/>
          </a:xfrm>
          <a:prstGeom prst="rect">
            <a:avLst/>
          </a:prstGeom>
          <a:solidFill>
            <a:srgbClr val="FFFFFF"/>
          </a:solidFill>
          <a:ln w="19050">
            <a:solidFill>
              <a:srgbClr val="B8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4919472"/>
            <a:ext cx="3749039" cy="329184"/>
          </a:xfrm>
          <a:prstGeom prst="rect">
            <a:avLst/>
          </a:prstGeom>
          <a:solidFill>
            <a:srgbClr val="B8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4937759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4937759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Variance Filter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5321808"/>
            <a:ext cx="35661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Remove zero-variance cols  →  135 features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41648" y="5559552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59" y="4919472"/>
            <a:ext cx="3749039" cy="1664208"/>
          </a:xfrm>
          <a:prstGeom prst="rect">
            <a:avLst/>
          </a:prstGeom>
          <a:solidFill>
            <a:srgbClr val="FFFFFF"/>
          </a:solidFill>
          <a:ln w="19050">
            <a:solidFill>
              <a:srgbClr val="004D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51959" y="4919472"/>
            <a:ext cx="3749039" cy="329184"/>
          </a:xfrm>
          <a:prstGeom prst="rect">
            <a:avLst/>
          </a:prstGeom>
          <a:solidFill>
            <a:srgbClr val="00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51959" y="4937759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79" y="4937759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Train 4 Classifiers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43399" y="5321808"/>
            <a:ext cx="35661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DT  ·  RF (200)  ·  XGB  ·  Stacking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9288" y="5559552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4919472"/>
            <a:ext cx="3749039" cy="1664208"/>
          </a:xfrm>
          <a:prstGeom prst="rect">
            <a:avLst/>
          </a:prstGeom>
          <a:solidFill>
            <a:srgbClr val="FFFFFF"/>
          </a:solidFill>
          <a:ln w="1905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29600" y="4919472"/>
            <a:ext cx="3749039" cy="329184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4937759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2520" y="4937759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321808"/>
            <a:ext cx="35661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Accuracy, Precision, Recall, F1, Confusion ✓</a:t>
            </a:r>
          </a:p>
        </p:txBody>
      </p:sp>
    </p:spTree>
  </p:cSld>
  <p:clrMapOvr>
    <a:masterClrMapping/>
  </p:clrMapOvr>
  <p:transition dur="600" advTm="0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914400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Four Classifiers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07008"/>
            <a:ext cx="27432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743200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43584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Decision Tree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59" y="1755648"/>
            <a:ext cx="21031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59" y="177393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  <a:latin typeface="Calibri"/>
              </a:rPr>
              <a:t>85.58 %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212848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• Gini criterion, no depth limit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898648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• Baseline — transparent &amp; explainable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584448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• Overfits due to dropout noise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1207008"/>
            <a:ext cx="27432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207008"/>
            <a:ext cx="2743200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1243584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Random Forest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1755648"/>
            <a:ext cx="21031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177393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7AE60"/>
                </a:solidFill>
                <a:latin typeface="Calibri"/>
              </a:rPr>
              <a:t>93.30 %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79" y="2212848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• 200 trees, parallel bagging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79" y="2898648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• Smooths out symptom dropout noise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79" y="3584448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• Feature importance available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207008"/>
            <a:ext cx="27432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207008"/>
            <a:ext cx="2743200" cy="9144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243584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XGBoost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59" y="1755648"/>
            <a:ext cx="21031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177393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980B9"/>
                </a:solidFill>
                <a:latin typeface="Calibri"/>
              </a:rPr>
              <a:t>91.47 %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212848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• 100 trees, lr=0.1, depth=6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898648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• Sequential residual correction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584448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• mlogloss multi-class eval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89720" y="1207008"/>
            <a:ext cx="27432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86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89720" y="1207008"/>
            <a:ext cx="2743200" cy="914400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9720" y="1243584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Stacking Ensemble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0" y="1755648"/>
            <a:ext cx="21031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9760" y="177393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6F1E"/>
                </a:solidFill>
                <a:latin typeface="Calibri"/>
              </a:rPr>
              <a:t>93.50 %  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2212848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• DT + RF + XGB  →  LR meta-learner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2898648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• passthrough=True: raw features too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3584448"/>
            <a:ext cx="2468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• 5-fold stratified CV · BEST MODEL</a:t>
            </a:r>
          </a:p>
        </p:txBody>
      </p:sp>
    </p:spTree>
  </p:cSld>
  <p:clrMapOvr>
    <a:masterClrMapping/>
  </p:clrMapOvr>
  <p:transition dur="700" advTm="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914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55448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994400"/>
                </a:solidFill>
                <a:latin typeface="Calibri Light"/>
              </a:rPr>
              <a:t>Results — Accuracy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2331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Decision Tree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640" y="1271016"/>
            <a:ext cx="4937760" cy="58521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34640" y="1271016"/>
            <a:ext cx="4141220" cy="58521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21580" y="1289304"/>
            <a:ext cx="914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85.58%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50008"/>
            <a:ext cx="2331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XGBoost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2386584"/>
            <a:ext cx="4937760" cy="58521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34640" y="2386584"/>
            <a:ext cx="4426237" cy="585216"/>
          </a:xfrm>
          <a:prstGeom prst="rect">
            <a:avLst/>
          </a:prstGeom>
          <a:solidFill>
            <a:srgbClr val="1F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06597" y="2404872"/>
            <a:ext cx="914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6FC8"/>
                </a:solidFill>
                <a:latin typeface="Calibri"/>
              </a:rPr>
              <a:t>91.47%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65576"/>
            <a:ext cx="2331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Random Forest (200)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3502152"/>
            <a:ext cx="4937760" cy="58521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40" y="3502152"/>
            <a:ext cx="4514791" cy="585216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95151" y="3520440"/>
            <a:ext cx="914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7A3C"/>
                </a:solidFill>
                <a:latin typeface="Calibri"/>
              </a:rPr>
              <a:t>93.30%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581144"/>
            <a:ext cx="2331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62626"/>
                </a:solidFill>
                <a:latin typeface="Calibri"/>
              </a:rPr>
              <a:t>Stacking Ensemble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4617720"/>
            <a:ext cx="4937760" cy="58521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34640" y="4617720"/>
            <a:ext cx="4524469" cy="585216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4829" y="4636007"/>
            <a:ext cx="914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6F1E"/>
                </a:solidFill>
                <a:latin typeface="Calibri"/>
              </a:rPr>
              <a:t>93.50%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1115568"/>
            <a:ext cx="379476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3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1115568"/>
            <a:ext cx="3794760" cy="384048"/>
          </a:xfrm>
          <a:prstGeom prst="rect">
            <a:avLst/>
          </a:prstGeom>
          <a:solidFill>
            <a:srgbClr val="00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113385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1133856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Acc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1133856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Prec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19104" y="1133856"/>
            <a:ext cx="722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1499616"/>
            <a:ext cx="379476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153619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Calibri"/>
              </a:rPr>
              <a:t>DT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1536192"/>
            <a:ext cx="713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Calibri"/>
              </a:rPr>
              <a:t>85.58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1536192"/>
            <a:ext cx="713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Calibri"/>
              </a:rPr>
              <a:t>0.86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19104" y="1536192"/>
            <a:ext cx="722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Calibri"/>
              </a:rPr>
              <a:t>0.86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2340864"/>
            <a:ext cx="3794760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0" y="2340864"/>
            <a:ext cx="379476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0" y="23774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Calibri"/>
              </a:rPr>
              <a:t>XGB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377440"/>
            <a:ext cx="713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Calibri"/>
              </a:rPr>
              <a:t>91.47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05872" y="2377440"/>
            <a:ext cx="713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Calibri"/>
              </a:rPr>
              <a:t>0.92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19104" y="2377440"/>
            <a:ext cx="722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Calibri"/>
              </a:rPr>
              <a:t>0.91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3182112"/>
            <a:ext cx="3794760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3182112"/>
            <a:ext cx="379476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0" y="3218688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Calibri"/>
              </a:rPr>
              <a:t>RF-200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0" y="3218688"/>
            <a:ext cx="713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Calibri"/>
              </a:rPr>
              <a:t>93.30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3218688"/>
            <a:ext cx="713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Calibri"/>
              </a:rPr>
              <a:t>0.94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19104" y="3218688"/>
            <a:ext cx="722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Calibri"/>
              </a:rPr>
              <a:t>0.93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4023360"/>
            <a:ext cx="3794760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46720" y="4023360"/>
            <a:ext cx="3794760" cy="82296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0" y="4059936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6F1E"/>
                </a:solidFill>
                <a:latin typeface="Calibri"/>
              </a:rPr>
              <a:t>Stacking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4059936"/>
            <a:ext cx="713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6F1E"/>
                </a:solidFill>
                <a:latin typeface="Calibri"/>
              </a:rPr>
              <a:t>93.50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4059936"/>
            <a:ext cx="713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6F1E"/>
                </a:solidFill>
                <a:latin typeface="Calibri"/>
              </a:rPr>
              <a:t>0.94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19104" y="4059936"/>
            <a:ext cx="722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6F1E"/>
                </a:solidFill>
                <a:latin typeface="Calibri"/>
              </a:rPr>
              <a:t>0.93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779008"/>
            <a:ext cx="11274552" cy="566928"/>
          </a:xfrm>
          <a:prstGeom prst="rect">
            <a:avLst/>
          </a:prstGeom>
          <a:solidFill>
            <a:srgbClr val="FFF0D0"/>
          </a:solidFill>
          <a:ln w="12700">
            <a:solidFill>
              <a:srgbClr val="E86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5815584"/>
            <a:ext cx="10972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3300"/>
                </a:solidFill>
                <a:latin typeface="Calibri"/>
              </a:rPr>
              <a:t>★  Stacking Ensemble (93.50%) outperforms all individual models. Random Forest (93.30%) is a strong single-model alternative.</a:t>
            </a:r>
          </a:p>
        </p:txBody>
      </p:sp>
    </p:spTree>
  </p:cSld>
  <p:clrMapOvr>
    <a:masterClrMapping/>
  </p:clrMapOvr>
  <p:transition dur="700" advTm="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914400"/>
          </a:xfrm>
          <a:prstGeom prst="rect">
            <a:avLst/>
          </a:prstGeom>
          <a:solidFill>
            <a:srgbClr val="C0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Stacking Ensemble —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377440" cy="685800"/>
          </a:xfrm>
          <a:prstGeom prst="rect">
            <a:avLst/>
          </a:prstGeom>
          <a:solidFill>
            <a:srgbClr val="E8F4FD"/>
          </a:solidFill>
          <a:ln w="19050">
            <a:solidFill>
              <a:srgbClr val="1F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6FC8"/>
                </a:solidFill>
                <a:latin typeface="Calibri"/>
              </a:rPr>
              <a:t>Input
135 Features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051560"/>
            <a:ext cx="256032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06984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392B"/>
                </a:solidFill>
                <a:latin typeface="Calibri"/>
              </a:rPr>
              <a:t>Decision Tree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207007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664208"/>
            <a:ext cx="256032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682496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17A3C"/>
                </a:solidFill>
                <a:latin typeface="Calibri"/>
              </a:rPr>
              <a:t>Random Forest
(200 trees)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81965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2286000"/>
            <a:ext cx="256032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30428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6FC8"/>
                </a:solidFill>
                <a:latin typeface="Calibri"/>
              </a:rPr>
              <a:t>XGBoost
(100 trees)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44144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0896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6F1E"/>
                </a:solidFill>
                <a:latin typeface="Calibri"/>
              </a:rPr>
              <a:t>──────────────────────────── passthrough=True ────────→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508760"/>
            <a:ext cx="2926080" cy="987552"/>
          </a:xfrm>
          <a:prstGeom prst="rect">
            <a:avLst/>
          </a:prstGeom>
          <a:solidFill>
            <a:srgbClr val="FFF3E0"/>
          </a:solidFill>
          <a:ln w="25400">
            <a:solidFill>
              <a:srgbClr val="E86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1508760"/>
            <a:ext cx="2926080" cy="310896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52704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Meta-Learner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837943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62626"/>
                </a:solidFill>
                <a:latin typeface="Calibri"/>
              </a:rPr>
              <a:t>Logistic Regression
C=0.1  |  saga solver
max_iter=3000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1207007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181965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244144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75520" y="1554480"/>
            <a:ext cx="2057400" cy="868680"/>
          </a:xfrm>
          <a:prstGeom prst="rect">
            <a:avLst/>
          </a:prstGeom>
          <a:solidFill>
            <a:srgbClr val="E8F8EC"/>
          </a:solidFill>
          <a:ln w="2540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1600200"/>
            <a:ext cx="20574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17A3C"/>
                </a:solidFill>
                <a:latin typeface="Calibri"/>
              </a:rPr>
              <a:t>Output
Disease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1783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520440"/>
            <a:ext cx="11430000" cy="365760"/>
          </a:xfrm>
          <a:prstGeom prst="rect">
            <a:avLst/>
          </a:prstGeom>
          <a:solidFill>
            <a:srgbClr val="00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53872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Why Stacking Works Here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005072"/>
            <a:ext cx="55778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6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6908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6F1E"/>
                </a:solidFill>
                <a:latin typeface="Calibri"/>
              </a:rPr>
              <a:t>5-Fold Stratified CV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" y="4398264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Calibri"/>
              </a:rPr>
              <a:t>Out-of-fold predictions prevent data leakage to the meta-learner during training.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005072"/>
            <a:ext cx="55778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6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406908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6F1E"/>
                </a:solidFill>
                <a:latin typeface="Calibri"/>
              </a:rPr>
              <a:t>passthrough=True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4398264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Calibri"/>
              </a:rPr>
              <a:t>Meta-learner sees raw clinical signals alongside base model outputs — corrects cases all 3 models got wrong.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330952"/>
            <a:ext cx="55778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6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539496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6F1E"/>
                </a:solidFill>
                <a:latin typeface="Calibri"/>
              </a:rPr>
              <a:t>predict_proba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" y="5724144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Calibri"/>
              </a:rPr>
              <a:t>Passes class probability distributions (not just hard labels) — more information for the meta-learner.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5330952"/>
            <a:ext cx="55778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6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7648" y="539496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6F1E"/>
                </a:solidFill>
                <a:latin typeface="Calibri"/>
              </a:rPr>
              <a:t>+0.20% over RF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27648" y="5724144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Calibri"/>
              </a:rPr>
              <a:t>Small but consistent gain: the meta-learner recovers errors that RF and XGB both make on hard disease boundary cases.</a:t>
            </a:r>
          </a:p>
        </p:txBody>
      </p:sp>
    </p:spTree>
  </p:cSld>
  <p:clrMapOvr>
    <a:masterClrMapping/>
  </p:clrMapOvr>
  <p:transition dur="700" advTm="0">
    <p:fade thruBlk="0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914400"/>
          </a:xfrm>
          <a:prstGeom prst="rect">
            <a:avLst/>
          </a:prstGeom>
          <a:solidFill>
            <a:srgbClr val="00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Feature Importance (Random Forest)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D56"/>
                </a:solidFill>
                <a:latin typeface="Calibri"/>
              </a:rPr>
              <a:t>Top 10 Most Discriminative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910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Calibri"/>
              </a:rPr>
              <a:t>yellowing of eyes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79" y="1609344"/>
            <a:ext cx="6583680" cy="320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154679" y="1609344"/>
            <a:ext cx="6320332" cy="320040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39020" y="16093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6F1E"/>
                </a:solidFill>
                <a:latin typeface="Calibri"/>
              </a:rPr>
              <a:t>0.048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66543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Calibri"/>
              </a:rPr>
              <a:t>dark urine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54679" y="2084831"/>
            <a:ext cx="6583680" cy="320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54679" y="2084831"/>
            <a:ext cx="5793638" cy="320040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2326" y="2084831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6F1E"/>
                </a:solidFill>
                <a:latin typeface="Calibri"/>
              </a:rPr>
              <a:t>0.044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4203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Calibri"/>
              </a:rPr>
              <a:t>sweating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54679" y="2560320"/>
            <a:ext cx="6583680" cy="320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54679" y="2560320"/>
            <a:ext cx="5398617" cy="320040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7305" y="25603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838A"/>
                </a:solidFill>
                <a:latin typeface="Calibri"/>
              </a:rPr>
              <a:t>0.041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0175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Calibri"/>
              </a:rPr>
              <a:t>chills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4679" y="3035808"/>
            <a:ext cx="6583680" cy="320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54679" y="3035808"/>
            <a:ext cx="5003596" cy="320040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2284" y="30358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838A"/>
                </a:solidFill>
                <a:latin typeface="Calibri"/>
              </a:rPr>
              <a:t>0.038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49300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0392B"/>
                </a:solidFill>
                <a:latin typeface="Calibri"/>
              </a:rPr>
              <a:t>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54679" y="3511296"/>
            <a:ext cx="6583680" cy="320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154679" y="3511296"/>
            <a:ext cx="4608576" cy="320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27264" y="351129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Calibri"/>
              </a:rPr>
              <a:t>0.035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96849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Calibri"/>
              </a:rPr>
              <a:t>loss of appetite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54679" y="3986783"/>
            <a:ext cx="6583680" cy="320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54679" y="3986783"/>
            <a:ext cx="4345228" cy="320040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63916" y="3986783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838A"/>
                </a:solidFill>
                <a:latin typeface="Calibri"/>
              </a:rPr>
              <a:t>0.033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44398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Calibri"/>
              </a:rPr>
              <a:t>fatigue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79" y="4462272"/>
            <a:ext cx="6583680" cy="320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54679" y="4462272"/>
            <a:ext cx="4081881" cy="320040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0569" y="44622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838A"/>
                </a:solidFill>
                <a:latin typeface="Calibri"/>
              </a:rPr>
              <a:t>0.031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91947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Calibri"/>
              </a:rPr>
              <a:t>high fever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54679" y="4937759"/>
            <a:ext cx="6583680" cy="320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54679" y="4937759"/>
            <a:ext cx="3818534" cy="320040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37222" y="4937759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838A"/>
                </a:solidFill>
                <a:latin typeface="Calibri"/>
              </a:rPr>
              <a:t>0.029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39496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Calibri"/>
              </a:rPr>
              <a:t>vomiting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54679" y="5413248"/>
            <a:ext cx="6583680" cy="320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54679" y="5413248"/>
            <a:ext cx="3555187" cy="320040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73875" y="54132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838A"/>
                </a:solidFill>
                <a:latin typeface="Calibri"/>
              </a:rPr>
              <a:t>0.027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87044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Calibri"/>
              </a:rPr>
              <a:t>nausea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54679" y="5888736"/>
            <a:ext cx="6583680" cy="320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54679" y="5888736"/>
            <a:ext cx="3291840" cy="320040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10528" y="588873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838A"/>
                </a:solidFill>
                <a:latin typeface="Calibri"/>
              </a:rPr>
              <a:t>0.025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921240" y="1115568"/>
            <a:ext cx="1965960" cy="5852160"/>
          </a:xfrm>
          <a:prstGeom prst="rect">
            <a:avLst/>
          </a:prstGeom>
          <a:solidFill>
            <a:srgbClr val="F0FBF8"/>
          </a:solidFill>
          <a:ln w="19050">
            <a:solidFill>
              <a:srgbClr val="0083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921240" y="1115568"/>
            <a:ext cx="1965960" cy="365760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21240" y="1133856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Key Insights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85248" y="15544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Jaundice-related symptoms (yellowing, dark urine) are most discriminative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85248" y="22402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85248" y="29260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Age ranks #5 — confirms epidemiological prior knowledge adds real signal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85248" y="36118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85248" y="4297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Fatigue, fever, vomiting rank lower — shared across many diseases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85248" y="49834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/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85248" y="56692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Severity weights give each symptom a continuous signal, not binary</a:t>
            </a:r>
          </a:p>
        </p:txBody>
      </p:sp>
    </p:spTree>
  </p:cSld>
  <p:clrMapOvr>
    <a:masterClrMapping/>
  </p:clrMapOvr>
  <p:transition dur="600" advTm="0">
    <p:wipe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914400"/>
          </a:xfrm>
          <a:prstGeom prst="rect">
            <a:avLst/>
          </a:prstGeom>
          <a:solidFill>
            <a:srgbClr val="6C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Discussion &amp;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5440680" cy="4709160"/>
          </a:xfrm>
          <a:prstGeom prst="rect">
            <a:avLst/>
          </a:prstGeom>
          <a:solidFill>
            <a:srgbClr val="FFFFFF"/>
          </a:solidFill>
          <a:ln w="1905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440680" cy="384048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61288"/>
            <a:ext cx="5440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✓  What Works Well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▸  Severity weighting outperforms binary encoding — more nuance per symptom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95144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▸  Age feature confirms epidemiological value — ranks #5 in importance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62656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▸  50% dropout makes models robust to missing symptoms at test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3016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▸  Balanced dataset (≈120 records/class) — accuracy is meaningful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97680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▸  Stacking with passthrough corrects cases all base models fail 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143000"/>
            <a:ext cx="5440680" cy="4709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143000"/>
            <a:ext cx="5440680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161288"/>
            <a:ext cx="5440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✗  Limitations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627632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▸  Structured checklist, not natural language — real patients describe symptoms differently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295144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▸  Hepatitis B/C/D/E still confused — lab tests needed for final differentiation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62656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▸  No hyperparameter tuning — Optuna/GridSearch could push accuracy further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63016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▸  Dataset is synthetic-style (clean labels) — real clinical data is noisier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297680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▸  No gender, vital signs, or lab values as features</a:t>
            </a:r>
          </a:p>
        </p:txBody>
      </p:sp>
    </p:spTree>
  </p:cSld>
  <p:clrMapOvr>
    <a:masterClrMapping/>
  </p:clrMapOvr>
  <p:transition dur="700" advTm="0">
    <p:fade thruBlk="0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F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914400"/>
          </a:xfrm>
          <a:prstGeom prst="rect">
            <a:avLst/>
          </a:prstGeom>
          <a:solidFill>
            <a:srgbClr val="1F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Future Scope &amp;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755648"/>
          </a:xfrm>
          <a:prstGeom prst="rect">
            <a:avLst/>
          </a:prstGeom>
          <a:solidFill>
            <a:srgbClr val="FFFFFF"/>
          </a:solidFill>
          <a:ln w="22860">
            <a:solidFill>
              <a:srgbClr val="1F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3520440" cy="347472"/>
          </a:xfrm>
          <a:prstGeom prst="rect">
            <a:avLst/>
          </a:prstGeom>
          <a:solidFill>
            <a:srgbClr val="1F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16152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Hyperparameter 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27632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Optuna / GridSearchCV on XGB depth and LR regulariser C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188720"/>
            <a:ext cx="3520440" cy="1755648"/>
          </a:xfrm>
          <a:prstGeom prst="rect">
            <a:avLst/>
          </a:prstGeom>
          <a:solidFill>
            <a:srgbClr val="FFFFFF"/>
          </a:solidFill>
          <a:ln w="22860">
            <a:solidFill>
              <a:srgbClr val="7B6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0" y="1188720"/>
            <a:ext cx="3520440" cy="347472"/>
          </a:xfrm>
          <a:prstGeom prst="rect">
            <a:avLst/>
          </a:prstGeom>
          <a:solidFill>
            <a:srgbClr val="7B6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1216152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Neural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MLP / Transformer encoder for higher-order symptom interactions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1188720"/>
            <a:ext cx="3520440" cy="1755648"/>
          </a:xfrm>
          <a:prstGeom prst="rect">
            <a:avLst/>
          </a:prstGeom>
          <a:solidFill>
            <a:srgbClr val="FFFFFF"/>
          </a:solidFill>
          <a:ln w="22860">
            <a:solidFill>
              <a:srgbClr val="0083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0" y="1188720"/>
            <a:ext cx="3520440" cy="347472"/>
          </a:xfrm>
          <a:prstGeom prst="rect">
            <a:avLst/>
          </a:prstGeom>
          <a:solidFill>
            <a:srgbClr val="00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1216152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SHAP Explainability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627632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Per-patient prediction explanations for clinical trust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46120"/>
            <a:ext cx="3520440" cy="1755648"/>
          </a:xfrm>
          <a:prstGeom prst="rect">
            <a:avLst/>
          </a:prstGeom>
          <a:solidFill>
            <a:srgbClr val="FFFFFF"/>
          </a:solidFill>
          <a:ln w="2286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246120"/>
            <a:ext cx="3520440" cy="347472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273551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Web Deployment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685031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FastAPI backend + symptom form → usable prototype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3246120"/>
            <a:ext cx="3520440" cy="1755648"/>
          </a:xfrm>
          <a:prstGeom prst="rect">
            <a:avLst/>
          </a:prstGeom>
          <a:solidFill>
            <a:srgbClr val="FFFFFF"/>
          </a:solidFill>
          <a:ln w="22860">
            <a:solidFill>
              <a:srgbClr val="E86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0" y="3246120"/>
            <a:ext cx="3520440" cy="347472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3273551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Richer Patient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3685031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Add gender, BP, temperature, CBC lab values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3246120"/>
            <a:ext cx="3520440" cy="1755648"/>
          </a:xfrm>
          <a:prstGeom prst="rect">
            <a:avLst/>
          </a:prstGeom>
          <a:solidFill>
            <a:srgbClr val="FFFFFF"/>
          </a:solidFill>
          <a:ln w="228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0" y="3246120"/>
            <a:ext cx="352044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3273551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Real Clinical NLP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685031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Extract symptoms from free-text discharge summaries via NLP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166360"/>
            <a:ext cx="11430000" cy="868680"/>
          </a:xfrm>
          <a:prstGeom prst="rect">
            <a:avLst/>
          </a:prstGeom>
          <a:solidFill>
            <a:srgbClr val="E8F4FD"/>
          </a:solidFill>
          <a:ln w="12700">
            <a:solidFill>
              <a:srgbClr val="1F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39512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6FC8"/>
                </a:solidFill>
                <a:latin typeface="Calibri"/>
              </a:rPr>
              <a:t>Applications: GP clinics  ·  Remote health workers  ·  Patient symptom checkers  ·  Hospital triage  ·  Medical education</a:t>
            </a:r>
          </a:p>
        </p:txBody>
      </p:sp>
    </p:spTree>
  </p:cSld>
  <p:clrMapOvr>
    <a:masterClrMapping/>
  </p:clrMapOvr>
  <p:transition dur="600" advTm="0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868680"/>
          </a:xfrm>
          <a:prstGeom prst="rect">
            <a:avLst/>
          </a:prstGeom>
          <a:solidFill>
            <a:srgbClr val="00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 Light"/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15568"/>
            <a:ext cx="2743200" cy="777240"/>
          </a:xfrm>
          <a:prstGeom prst="rect">
            <a:avLst/>
          </a:prstGeom>
          <a:solidFill>
            <a:srgbClr val="06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CCCC"/>
                </a:solidFill>
                <a:latin typeface="Calibri"/>
              </a:rPr>
              <a:t>Decision Tree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721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0392B"/>
                </a:solidFill>
                <a:latin typeface="Calibri"/>
              </a:rPr>
              <a:t>85.58 %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15568"/>
            <a:ext cx="2743200" cy="777240"/>
          </a:xfrm>
          <a:prstGeom prst="rect">
            <a:avLst/>
          </a:prstGeom>
          <a:solidFill>
            <a:srgbClr val="06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1430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CCCC"/>
                </a:solidFill>
                <a:latin typeface="Calibri"/>
              </a:rP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4721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6FC8"/>
                </a:solidFill>
                <a:latin typeface="Calibri"/>
              </a:rPr>
              <a:t>91.47 %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15568"/>
            <a:ext cx="2743200" cy="777240"/>
          </a:xfrm>
          <a:prstGeom prst="rect">
            <a:avLst/>
          </a:prstGeom>
          <a:solidFill>
            <a:srgbClr val="06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1430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CCCC"/>
                </a:solidFill>
                <a:latin typeface="Calibri"/>
              </a:rPr>
              <a:t>Random Forest (200)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4721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17A3C"/>
                </a:solidFill>
                <a:latin typeface="Calibri"/>
              </a:rPr>
              <a:t>93.30 %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15568"/>
            <a:ext cx="2743200" cy="777240"/>
          </a:xfrm>
          <a:prstGeom prst="rect">
            <a:avLst/>
          </a:prstGeom>
          <a:solidFill>
            <a:srgbClr val="06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1430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CCCC"/>
                </a:solidFill>
                <a:latin typeface="Calibri"/>
              </a:rPr>
              <a:t>Stacking 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14721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86F1E"/>
                </a:solidFill>
                <a:latin typeface="Calibri"/>
              </a:rPr>
              <a:t>93.50 %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078992"/>
            <a:ext cx="2971800" cy="868680"/>
          </a:xfrm>
          <a:prstGeom prst="rect">
            <a:avLst/>
          </a:prstGeom>
          <a:solidFill>
            <a:srgbClr val="E86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115568"/>
            <a:ext cx="2971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★  BEST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1536192"/>
            <a:ext cx="2971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Stacking Ensemble  93.50%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084831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38A"/>
                </a:solidFill>
                <a:latin typeface="Calibri"/>
              </a:rPr>
              <a:t>Key Takeaways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78608"/>
            <a:ext cx="11430000" cy="658368"/>
          </a:xfrm>
          <a:prstGeom prst="rect">
            <a:avLst/>
          </a:prstGeom>
          <a:solidFill>
            <a:srgbClr val="06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615184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  ✦  Classical ML with thoughtful feature engineering remains highly competitive for structured medical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355848"/>
            <a:ext cx="11430000" cy="658368"/>
          </a:xfrm>
          <a:prstGeom prst="rect">
            <a:avLst/>
          </a:prstGeom>
          <a:solidFill>
            <a:srgbClr val="06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392424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  ✦  Severity-weighted symptoms + epidemiological age are more powerful than binary encoding alone.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133087"/>
            <a:ext cx="11430000" cy="658368"/>
          </a:xfrm>
          <a:prstGeom prst="rect">
            <a:avLst/>
          </a:prstGeom>
          <a:solidFill>
            <a:srgbClr val="06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169663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  ✦  Stacking Ensemble with passthrough=True squeezes residual errors that no single model can correct.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910327"/>
            <a:ext cx="11430000" cy="658368"/>
          </a:xfrm>
          <a:prstGeom prst="rect">
            <a:avLst/>
          </a:prstGeom>
          <a:solidFill>
            <a:srgbClr val="06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946904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  ✦  50% dropout simulation ensures real-world robustness to missing patient-reported symptoms.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687568"/>
            <a:ext cx="11430000" cy="658368"/>
          </a:xfrm>
          <a:prstGeom prst="rect">
            <a:avLst/>
          </a:prstGeom>
          <a:solidFill>
            <a:srgbClr val="06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724144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  ✦  The system is ready for extension: richer data, NLP integration, or web deployment.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44652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6F1E"/>
                </a:solidFill>
                <a:latin typeface="Calibri"/>
              </a:rPr>
              <a:t>Thank you  ·  Questions welcome</a:t>
            </a:r>
          </a:p>
        </p:txBody>
      </p:sp>
    </p:spTree>
  </p:cSld>
  <p:clrMapOvr>
    <a:masterClrMapping/>
  </p:clrMapOvr>
  <p:transition dur="800" advTm="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