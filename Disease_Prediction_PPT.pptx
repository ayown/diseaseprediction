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4754880" cy="4754880"/>
          </a:xfrm>
          <a:prstGeom prst="ellipse">
            <a:avLst/>
          </a:prstGeom>
          <a:solidFill>
            <a:srgbClr val="4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474720"/>
            <a:ext cx="2560320" cy="2560320"/>
          </a:xfrm>
          <a:prstGeom prst="ellipse">
            <a:avLst/>
          </a:prstGeom>
          <a:solidFill>
            <a:srgbClr val="352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114800"/>
            <a:ext cx="2194560" cy="2194560"/>
          </a:xfrm>
          <a:prstGeom prst="ellipse">
            <a:avLst/>
          </a:prstGeom>
          <a:solidFill>
            <a:srgbClr val="08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694944"/>
            <a:ext cx="2761488" cy="246888"/>
          </a:xfrm>
          <a:prstGeom prst="roundRect">
            <a:avLst/>
          </a:prstGeom>
          <a:solidFill>
            <a:srgbClr val="FF6B2B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731520"/>
            <a:ext cx="2596896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80" b="1" i="0">
                <a:solidFill>
                  <a:srgbClr val="070B14"/>
                </a:solidFill>
                <a:latin typeface="Segoe UI Semibold"/>
              </a:rPr>
              <a:t>AI HEALTHCARE  ·  ML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852160" cy="7132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5200" b="1" i="0">
                <a:solidFill>
                  <a:srgbClr val="F2F5FA"/>
                </a:solidFill>
                <a:latin typeface="Segoe UI Black"/>
              </a:rPr>
              <a:t>Disease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6583680" cy="8412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6000" b="1" i="0">
                <a:solidFill>
                  <a:srgbClr val="FF6B2B"/>
                </a:solidFill>
                <a:latin typeface="Segoe UI Black"/>
              </a:rP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486400" cy="621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4000" b="1" i="0">
                <a:solidFill>
                  <a:srgbClr val="C8D0DE"/>
                </a:solidFill>
                <a:latin typeface="Segoe UI Semibold"/>
              </a:rPr>
              <a:t>System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621024"/>
            <a:ext cx="4251960" cy="0"/>
          </a:xfrm>
          <a:prstGeom prst="line">
            <a:avLst/>
          </a:prstGeom>
          <a:ln w="2286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" y="3749039"/>
            <a:ext cx="5166360" cy="7132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0" i="0">
                <a:solidFill>
                  <a:srgbClr val="8A94A6"/>
                </a:solidFill>
                <a:latin typeface="Segoe UI"/>
              </a:rPr>
              <a:t>A severity-aware, age-context disease classification pipeline comparing Decision Tree, Random Forest, XGBoost, and Stacking Ensemble across 41 disease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4681728"/>
            <a:ext cx="1664208" cy="98755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617720"/>
            <a:ext cx="1664208" cy="987552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672583"/>
            <a:ext cx="50292" cy="87782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4690872"/>
            <a:ext cx="1426464" cy="43452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 i="0">
                <a:solidFill>
                  <a:srgbClr val="FF6B2B"/>
                </a:solidFill>
                <a:latin typeface="Segoe UI Black"/>
              </a:rPr>
              <a:t>93.50%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30002"/>
            <a:ext cx="1481328" cy="3357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Best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8296" y="4681728"/>
            <a:ext cx="1664208" cy="98755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13432" y="4617720"/>
            <a:ext cx="1664208" cy="987552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3432" y="4672583"/>
            <a:ext cx="50292" cy="877824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1448" y="4690872"/>
            <a:ext cx="1426464" cy="43452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 i="0">
                <a:solidFill>
                  <a:srgbClr val="FFB330"/>
                </a:solidFill>
                <a:latin typeface="Segoe UI Black"/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4872" y="5230002"/>
            <a:ext cx="1481328" cy="3357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Diseases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78807" y="4681728"/>
            <a:ext cx="1664208" cy="98755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23944" y="4617720"/>
            <a:ext cx="1664208" cy="987552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23944" y="4672583"/>
            <a:ext cx="50292" cy="877824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4690872"/>
            <a:ext cx="1426464" cy="43452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 i="0">
                <a:solidFill>
                  <a:srgbClr val="2DCEBF"/>
                </a:solidFill>
                <a:latin typeface="Segoe UI Black"/>
              </a:rPr>
              <a:t>135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3" y="5230002"/>
            <a:ext cx="1481328" cy="3357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78624" y="960120"/>
            <a:ext cx="4462272" cy="510235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60" y="896112"/>
            <a:ext cx="4462272" cy="5102352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60" y="950976"/>
            <a:ext cx="50292" cy="499262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1" y="1225296"/>
            <a:ext cx="3291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Segoe UI Semibold"/>
              </a:rPr>
              <a:t>ML Pipeline</a:t>
            </a:r>
          </a:p>
        </p:txBody>
      </p:sp>
      <p:sp>
        <p:nvSpPr>
          <p:cNvPr id="32" name="Oval 31"/>
          <p:cNvSpPr/>
          <p:nvPr/>
        </p:nvSpPr>
        <p:spPr>
          <a:xfrm>
            <a:off x="7589520" y="1700784"/>
            <a:ext cx="347472" cy="347472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1764792"/>
            <a:ext cx="34747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00" b="1" i="0">
                <a:solidFill>
                  <a:srgbClr val="070B14"/>
                </a:solidFill>
                <a:latin typeface="Segoe U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1755648"/>
            <a:ext cx="32004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C8D0DE"/>
                </a:solidFill>
                <a:latin typeface="Segoe UI Semibold"/>
              </a:rPr>
              <a:t>Symptoms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63256" y="2066544"/>
            <a:ext cx="0" cy="310896"/>
          </a:xfrm>
          <a:prstGeom prst="line">
            <a:avLst/>
          </a:prstGeom>
          <a:ln w="1397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589520" y="2414016"/>
            <a:ext cx="347472" cy="347472"/>
          </a:xfrm>
          <a:prstGeom prst="ellipse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478024"/>
            <a:ext cx="34747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00" b="1" i="0">
                <a:solidFill>
                  <a:srgbClr val="070B14"/>
                </a:solidFill>
                <a:latin typeface="Segoe UI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2468880"/>
            <a:ext cx="32004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C8D0DE"/>
                </a:solidFill>
                <a:latin typeface="Segoe UI Semibold"/>
              </a:rPr>
              <a:t>Severity Encoding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63256" y="2779776"/>
            <a:ext cx="0" cy="310896"/>
          </a:xfrm>
          <a:prstGeom prst="line">
            <a:avLst/>
          </a:prstGeom>
          <a:ln w="1397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589520" y="3127248"/>
            <a:ext cx="347472" cy="347472"/>
          </a:xfrm>
          <a:prstGeom prst="ellipse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3191256"/>
            <a:ext cx="34747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00" b="1" i="0">
                <a:solidFill>
                  <a:srgbClr val="070B14"/>
                </a:solidFill>
                <a:latin typeface="Segoe U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182112"/>
            <a:ext cx="32004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C8D0DE"/>
                </a:solidFill>
                <a:latin typeface="Segoe UI Semibold"/>
              </a:rPr>
              <a:t>Age Features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63256" y="3493008"/>
            <a:ext cx="0" cy="310896"/>
          </a:xfrm>
          <a:prstGeom prst="line">
            <a:avLst/>
          </a:prstGeom>
          <a:ln w="1397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589520" y="3840480"/>
            <a:ext cx="347472" cy="347472"/>
          </a:xfrm>
          <a:prstGeom prst="ellipse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3904488"/>
            <a:ext cx="34747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00" b="1" i="0">
                <a:solidFill>
                  <a:srgbClr val="070B14"/>
                </a:solidFill>
                <a:latin typeface="Segoe U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3895344"/>
            <a:ext cx="32004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C8D0DE"/>
                </a:solidFill>
                <a:latin typeface="Segoe UI Semibold"/>
              </a:rPr>
              <a:t>Ensemble Training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763256" y="4206240"/>
            <a:ext cx="0" cy="310896"/>
          </a:xfrm>
          <a:prstGeom prst="line">
            <a:avLst/>
          </a:prstGeom>
          <a:ln w="1397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589520" y="4553712"/>
            <a:ext cx="347472" cy="347472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0" y="4617720"/>
            <a:ext cx="34747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00" b="1" i="0">
                <a:solidFill>
                  <a:srgbClr val="070B14"/>
                </a:solidFill>
                <a:latin typeface="Segoe UI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8" y="4608576"/>
            <a:ext cx="32004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C8D0DE"/>
                </a:solidFill>
                <a:latin typeface="Segoe UI Semibold"/>
              </a:rPr>
              <a:t>Prediction 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1" y="5833872"/>
            <a:ext cx="3822191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ITER, SOA University  |  May 2026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2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5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40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20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900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2153412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PRESENTATION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From data to validated predictions — a complete walkthrough.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179576"/>
            <a:ext cx="3456432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15568"/>
            <a:ext cx="3456432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70432"/>
            <a:ext cx="50292" cy="18288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1371600"/>
            <a:ext cx="384048" cy="38404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48409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1353312"/>
            <a:ext cx="23774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b="1" i="0">
                <a:solidFill>
                  <a:srgbClr val="F2F5FA"/>
                </a:solidFill>
                <a:latin typeface="Segoe UI Semibold"/>
              </a:rP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47088"/>
            <a:ext cx="301752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Why ML for disease prediction?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5" y="1179576"/>
            <a:ext cx="3456432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79392" y="1115568"/>
            <a:ext cx="3456432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1170432"/>
            <a:ext cx="50292" cy="1828800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59" y="1371600"/>
            <a:ext cx="384048" cy="384048"/>
          </a:xfrm>
          <a:prstGeom prst="ellipse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448409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353312"/>
            <a:ext cx="23774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b="1" i="0">
                <a:solidFill>
                  <a:srgbClr val="F2F5FA"/>
                </a:solidFill>
                <a:latin typeface="Segoe UI Semibold"/>
              </a:rPr>
              <a:t>Dataset &amp;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1847088"/>
            <a:ext cx="301752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4,925 records · 41 diseases · 135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1179576"/>
            <a:ext cx="3456432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01583" y="1115568"/>
            <a:ext cx="3456432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1170432"/>
            <a:ext cx="50292" cy="1828800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02752" y="1371600"/>
            <a:ext cx="384048" cy="384048"/>
          </a:xfrm>
          <a:prstGeom prst="ellipse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1448409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1353312"/>
            <a:ext cx="23774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b="1" i="0">
                <a:solidFill>
                  <a:srgbClr val="F2F5FA"/>
                </a:solidFill>
                <a:latin typeface="Segoe UI Semibold"/>
              </a:rPr>
              <a:t>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1847088"/>
            <a:ext cx="301752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End-to-end preprocessing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3392423"/>
            <a:ext cx="3456432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3328415"/>
            <a:ext cx="3456432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79"/>
            <a:ext cx="50292" cy="1828800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" y="3584448"/>
            <a:ext cx="384048" cy="384048"/>
          </a:xfrm>
          <a:prstGeom prst="ellipse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661257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7" y="3566159"/>
            <a:ext cx="23774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b="1" i="0">
                <a:solidFill>
                  <a:srgbClr val="F2F5FA"/>
                </a:solidFill>
                <a:latin typeface="Segoe UI Semibold"/>
              </a:rPr>
              <a:t>Four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059935"/>
            <a:ext cx="301752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DT · RF · XGB · Stacking Ensemble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392423"/>
            <a:ext cx="3456432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79392" y="3328415"/>
            <a:ext cx="3456432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383279"/>
            <a:ext cx="50292" cy="18288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80559" y="3584448"/>
            <a:ext cx="384048" cy="384048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59" y="3661257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566159"/>
            <a:ext cx="23774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b="1" i="0">
                <a:solidFill>
                  <a:srgbClr val="F2F5FA"/>
                </a:solidFill>
                <a:latin typeface="Segoe UI Semibold"/>
              </a:rPr>
              <a:t>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59" y="4059935"/>
            <a:ext cx="301752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Accuracy, precision, recall, F1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56448" y="3392423"/>
            <a:ext cx="3456432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01583" y="3328415"/>
            <a:ext cx="3456432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01583" y="3383279"/>
            <a:ext cx="50292" cy="1828800"/>
          </a:xfrm>
          <a:prstGeom prst="rect">
            <a:avLst/>
          </a:prstGeom>
          <a:solidFill>
            <a:srgbClr val="BD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02752" y="3584448"/>
            <a:ext cx="384048" cy="384048"/>
          </a:xfrm>
          <a:prstGeom prst="ellipse">
            <a:avLst/>
          </a:prstGeom>
          <a:solidFill>
            <a:srgbClr val="BD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2" y="3661257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1392" y="3566159"/>
            <a:ext cx="23774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b="1" i="0">
                <a:solidFill>
                  <a:srgbClr val="F2F5FA"/>
                </a:solidFill>
                <a:latin typeface="Segoe UI Semibold"/>
              </a:rPr>
              <a:t>Insights &amp; Future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4059935"/>
            <a:ext cx="301752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Feature importance · next steps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1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22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33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44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Effect">
                      <p:stCondLst>
                        <p:cond delay="55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650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101852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Clinical Decision Support Needs Better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Reframing symptom-based diagnosis as a multi-class classification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15568"/>
            <a:ext cx="11274552" cy="749808"/>
          </a:xfrm>
          <a:prstGeom prst="roundRect">
            <a:avLst/>
          </a:prstGeom>
          <a:solidFill>
            <a:srgbClr val="1A1006"/>
          </a:solidFill>
          <a:ln w="17780">
            <a:solidFill>
              <a:srgbClr val="FF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25295"/>
            <a:ext cx="10762488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50" b="0" i="1">
                <a:solidFill>
                  <a:srgbClr val="F2F5FA"/>
                </a:solidFill>
                <a:latin typeface="Segoe UI Italic"/>
              </a:rPr>
              <a:t>"A patient reports: fever · joint pain · fatigue. Is it Malaria, Dengue, Typhoid, or Arthritis? The same symptoms → 4+ possible diagnoses."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2112264"/>
            <a:ext cx="3605784" cy="309067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048256"/>
            <a:ext cx="3605784" cy="309067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0292" cy="2980944"/>
          </a:xfrm>
          <a:prstGeom prst="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48256"/>
            <a:ext cx="3605784" cy="384048"/>
          </a:xfrm>
          <a:prstGeom prst="round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66544"/>
            <a:ext cx="3605784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Segoe UI Semibold"/>
              </a:rPr>
              <a:t>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51176"/>
            <a:ext cx="3349752" cy="2423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41 overlapping disease classes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Symptoms shared across diseases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Hard to distinguish without lab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6448" y="2112264"/>
            <a:ext cx="3605784" cy="309067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1584" y="2048256"/>
            <a:ext cx="3605784" cy="309067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1584" y="2103120"/>
            <a:ext cx="50292" cy="2980944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1584" y="2048256"/>
            <a:ext cx="3605784" cy="384048"/>
          </a:xfrm>
          <a:prstGeom prst="round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1584" y="2066544"/>
            <a:ext cx="3605784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Segoe UI Semibold"/>
              </a:rPr>
              <a:t>Feature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4464" y="2551176"/>
            <a:ext cx="3349752" cy="2423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Binary encoding loses severity nuance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No age-context in prior systems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Noise from incomplete patient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0832" y="2112264"/>
            <a:ext cx="3605784" cy="309067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5968" y="2048256"/>
            <a:ext cx="3605784" cy="309067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5968" y="2103120"/>
            <a:ext cx="50292" cy="2980944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25968" y="2048256"/>
            <a:ext cx="3605784" cy="384048"/>
          </a:xfrm>
          <a:prstGeom prst="round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5968" y="2066544"/>
            <a:ext cx="3605784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Segoe UI Semibold"/>
              </a:rPr>
              <a:t>Our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8847" y="2551176"/>
            <a:ext cx="3349752" cy="2423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Severity-weighted feature matrix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Epidemiological age feature added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8D0DE"/>
                </a:solidFill>
                <a:latin typeface="Segoe UI"/>
              </a:rPr>
              <a:t>• Stacking Ensemble meta-learner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24144"/>
            <a:ext cx="11274552" cy="493776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D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79008"/>
            <a:ext cx="10817352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>
                <a:solidFill>
                  <a:srgbClr val="2DCEBF"/>
                </a:solidFill>
                <a:latin typeface="Segoe UI"/>
              </a:rPr>
              <a:t>Task: predict which of 41 diseases a patient most likely has from a 135-feature vector (severity-weighted symptoms + age)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2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27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42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60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700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101852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Feature Engineering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Severity-weighted symptoms + epidemiological age context → 135 model-ready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15568"/>
            <a:ext cx="2181758" cy="86868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2181758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FF6B2B"/>
                </a:solidFill>
                <a:latin typeface="Segoe UI Black"/>
              </a:rPr>
              <a:t>4,925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9344"/>
            <a:ext cx="2181758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0398" y="1115568"/>
            <a:ext cx="2181758" cy="86868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0398" y="1170432"/>
            <a:ext cx="2181758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2DCEBF"/>
                </a:solidFill>
                <a:latin typeface="Segoe UI Black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0398" y="1609344"/>
            <a:ext cx="2181758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Disease Classes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3596" y="1115568"/>
            <a:ext cx="2181758" cy="86868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3596" y="1170432"/>
            <a:ext cx="2181758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FFB330"/>
                </a:solidFill>
                <a:latin typeface="Segoe UI Black"/>
              </a:rPr>
              <a:t>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3596" y="1609344"/>
            <a:ext cx="2181758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Symptom Cols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6795" y="1115568"/>
            <a:ext cx="2181758" cy="86868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6795" y="1170432"/>
            <a:ext cx="2181758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5BA8FF"/>
                </a:solidFill>
                <a:latin typeface="Segoe UI Black"/>
              </a:rPr>
              <a:t>+1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6795" y="1609344"/>
            <a:ext cx="2181758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Age Feature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49993" y="1115568"/>
            <a:ext cx="2181758" cy="86868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9993" y="1170432"/>
            <a:ext cx="2181758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3DD68C"/>
                </a:solidFill>
                <a:latin typeface="Segoe UI Black"/>
              </a:rPr>
              <a:t>135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9993" y="1609344"/>
            <a:ext cx="2181758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Final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2203703"/>
            <a:ext cx="5285232" cy="310896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2139696"/>
            <a:ext cx="5285232" cy="3108960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194560"/>
            <a:ext cx="50292" cy="299923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304288"/>
            <a:ext cx="484632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 Semibold"/>
              </a:rPr>
              <a:t>Severity-Weighted Encoding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743200"/>
            <a:ext cx="4846320" cy="384048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2825496"/>
            <a:ext cx="914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FF6B2B"/>
                </a:solidFill>
                <a:latin typeface="Segoe UI Semibold"/>
              </a:rPr>
              <a:t>Raw 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2825496"/>
            <a:ext cx="361188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C8D0DE"/>
                </a:solidFill>
                <a:latin typeface="Segoe UI"/>
              </a:rPr>
              <a:t>Up to 17 symptom names per patient record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218688"/>
            <a:ext cx="4846320" cy="384048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300984"/>
            <a:ext cx="914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FF6B2B"/>
                </a:solidFill>
                <a:latin typeface="Segoe UI Semibold"/>
              </a:rPr>
              <a:t>Lookup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3300984"/>
            <a:ext cx="361188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C8D0DE"/>
                </a:solidFill>
                <a:latin typeface="Segoe UI"/>
              </a:rPr>
              <a:t>Severity dictionary: each symptom → weight 1–7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694176"/>
            <a:ext cx="4846320" cy="384048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776472"/>
            <a:ext cx="914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FF6B2B"/>
                </a:solidFill>
                <a:latin typeface="Segoe UI Semibold"/>
              </a:rPr>
              <a:t>Encode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776472"/>
            <a:ext cx="361188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C8D0DE"/>
                </a:solidFill>
                <a:latin typeface="Segoe UI"/>
              </a:rPr>
              <a:t>Build 136-col matrix; 0 = symptom absent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169664"/>
            <a:ext cx="4846320" cy="384048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251960"/>
            <a:ext cx="914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FF6B2B"/>
                </a:solidFill>
                <a:latin typeface="Segoe UI Semibold"/>
              </a:rPr>
              <a:t>Dropout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5648" y="4251960"/>
            <a:ext cx="361188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C8D0DE"/>
                </a:solidFill>
                <a:latin typeface="Segoe UI"/>
              </a:rPr>
              <a:t>Randomly zero 50% of non-zero entries (seed 42)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645152"/>
            <a:ext cx="4846320" cy="384048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727448"/>
            <a:ext cx="914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FF6B2B"/>
                </a:solidFill>
                <a:latin typeface="Segoe UI Semibold"/>
              </a:rPr>
              <a:t>Filter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4727448"/>
            <a:ext cx="361188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C8D0DE"/>
                </a:solidFill>
                <a:latin typeface="Segoe UI"/>
              </a:rPr>
              <a:t>Remove zero-variance cols → 135 final features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08192" y="2203703"/>
            <a:ext cx="5596128" cy="310896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53328" y="2139696"/>
            <a:ext cx="5596128" cy="3108960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53328" y="2194560"/>
            <a:ext cx="50292" cy="2999232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2304288"/>
            <a:ext cx="516636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 Semibold"/>
              </a:rPr>
              <a:t>Age-Aware Feature  (Novel Addition)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6" y="2706624"/>
            <a:ext cx="51663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Each disease has an epidemiological age range. A patient age is sampled from that range — giving the model demographic prior knowledge.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4496" y="3383280"/>
            <a:ext cx="5166360" cy="347472"/>
          </a:xfrm>
          <a:prstGeom prst="roundRect">
            <a:avLst/>
          </a:prstGeom>
          <a:solidFill>
            <a:srgbClr val="12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3447288"/>
            <a:ext cx="292608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Chicken pox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3447288"/>
            <a:ext cx="16459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2DCEBF"/>
                </a:solidFill>
                <a:latin typeface="Segoe UI"/>
              </a:rPr>
              <a:t>2 – 12 yrs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54496" y="3822191"/>
            <a:ext cx="5166360" cy="347472"/>
          </a:xfrm>
          <a:prstGeom prst="roundRect">
            <a:avLst/>
          </a:prstGeom>
          <a:solidFill>
            <a:srgbClr val="12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3886200"/>
            <a:ext cx="292608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Acne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3886200"/>
            <a:ext cx="16459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3DD68C"/>
                </a:solidFill>
                <a:latin typeface="Segoe UI"/>
              </a:rPr>
              <a:t>13 – 25 yrs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54496" y="4261104"/>
            <a:ext cx="5166360" cy="347472"/>
          </a:xfrm>
          <a:prstGeom prst="roundRect">
            <a:avLst/>
          </a:prstGeom>
          <a:solidFill>
            <a:srgbClr val="12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4325112"/>
            <a:ext cx="292608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Diabetes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4325112"/>
            <a:ext cx="16459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FFB330"/>
                </a:solidFill>
                <a:latin typeface="Segoe UI"/>
              </a:rPr>
              <a:t>35 – 75 yrs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54496" y="4700016"/>
            <a:ext cx="5166360" cy="347472"/>
          </a:xfrm>
          <a:prstGeom prst="roundRect">
            <a:avLst/>
          </a:prstGeom>
          <a:solidFill>
            <a:srgbClr val="12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19088" y="4764024"/>
            <a:ext cx="292608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Heart attack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764024"/>
            <a:ext cx="16459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F96B6B"/>
                </a:solidFill>
                <a:latin typeface="Segoe UI"/>
              </a:rPr>
              <a:t>45 – 80 yrs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54496" y="5138928"/>
            <a:ext cx="5166360" cy="347472"/>
          </a:xfrm>
          <a:prstGeom prst="roundRect">
            <a:avLst/>
          </a:prstGeom>
          <a:solidFill>
            <a:srgbClr val="12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9088" y="5202936"/>
            <a:ext cx="292608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Malaria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5202936"/>
            <a:ext cx="16459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5BA8FF"/>
                </a:solidFill>
                <a:latin typeface="Segoe UI"/>
              </a:rPr>
              <a:t>5  – 65 yrs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9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4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18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4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27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4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36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4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Effect">
                      <p:stCondLst>
                        <p:cond delay="15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afterEffect">
                      <p:stCondLst>
                        <p:cond delay="28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650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522476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A linear flow from raw CSVs to model-ready feature matrix and validated predictions.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225296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61288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16152"/>
            <a:ext cx="50292" cy="128016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1362456"/>
            <a:ext cx="365760" cy="365760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17320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325880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Load CSVs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09928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disease_raw.csv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+ symptom_severity.csv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1856232"/>
            <a:ext cx="201168" cy="0"/>
          </a:xfrm>
          <a:prstGeom prst="line">
            <a:avLst/>
          </a:prstGeom>
          <a:ln w="1905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61688" y="1225296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6824" y="1161288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216152"/>
            <a:ext cx="50292" cy="1280160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9704" y="1362456"/>
            <a:ext cx="365760" cy="365760"/>
          </a:xfrm>
          <a:prstGeom prst="ellipse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1417320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1325880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Build Feature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1709928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136-col severity-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weighted symptom cols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18704" y="1856232"/>
            <a:ext cx="201168" cy="0"/>
          </a:xfrm>
          <a:prstGeom prst="line">
            <a:avLst/>
          </a:prstGeom>
          <a:ln w="1905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11312" y="1225296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56448" y="1161288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216152"/>
            <a:ext cx="50292" cy="1280160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9327" y="1362456"/>
            <a:ext cx="365760" cy="365760"/>
          </a:xfrm>
          <a:prstGeom prst="ellipse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1417320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1325880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Add Age Feature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1709928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Sample from epidemio-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logical age range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" y="2807208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2743200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798064"/>
            <a:ext cx="50292" cy="1280160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2944368"/>
            <a:ext cx="365760" cy="365760"/>
          </a:xfrm>
          <a:prstGeom prst="ellipse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999232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2907792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50% Symptom Dropout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291840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Simulate incomplete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clinical reporting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069080" y="3438144"/>
            <a:ext cx="201168" cy="0"/>
          </a:xfrm>
          <a:prstGeom prst="line">
            <a:avLst/>
          </a:prstGeom>
          <a:ln w="1905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361688" y="2807208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06824" y="2743200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06824" y="2798064"/>
            <a:ext cx="50292" cy="1280160"/>
          </a:xfrm>
          <a:prstGeom prst="rect">
            <a:avLst/>
          </a:prstGeom>
          <a:solidFill>
            <a:srgbClr val="BD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89704" y="2944368"/>
            <a:ext cx="365760" cy="365760"/>
          </a:xfrm>
          <a:prstGeom prst="ellipse">
            <a:avLst/>
          </a:prstGeom>
          <a:solidFill>
            <a:srgbClr val="BD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9704" y="2999232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0056" y="2907792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Label Encode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3291840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prognosis → integer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class index (41 cls)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18704" y="3438144"/>
            <a:ext cx="201168" cy="0"/>
          </a:xfrm>
          <a:prstGeom prst="line">
            <a:avLst/>
          </a:prstGeom>
          <a:ln w="1905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11312" y="2807208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156448" y="2743200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56448" y="2798064"/>
            <a:ext cx="50292" cy="128016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39327" y="2944368"/>
            <a:ext cx="365760" cy="365760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7" y="2999232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2907792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Stratified Split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7616" y="3291840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80/20 · 3,940 train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985 test samples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2064" y="4379976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7200" y="4315968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370831"/>
            <a:ext cx="50292" cy="1280160"/>
          </a:xfrm>
          <a:prstGeom prst="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0080" y="4517136"/>
            <a:ext cx="365760" cy="365760"/>
          </a:xfrm>
          <a:prstGeom prst="ellipse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572000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" y="4480559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Variance Filter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4864607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Remove zero-var cols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→ 135 final features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069080" y="5010912"/>
            <a:ext cx="201168" cy="0"/>
          </a:xfrm>
          <a:prstGeom prst="line">
            <a:avLst/>
          </a:prstGeom>
          <a:ln w="1905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361688" y="4379976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306824" y="4315968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06824" y="4370831"/>
            <a:ext cx="50292" cy="128016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489704" y="4517136"/>
            <a:ext cx="365760" cy="365760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89704" y="4572000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0056" y="4480559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Train 4 Classifiers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07992" y="4864607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DT · RF(200) · XGB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· Stacking Ensemble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918704" y="5010912"/>
            <a:ext cx="201168" cy="0"/>
          </a:xfrm>
          <a:prstGeom prst="line">
            <a:avLst/>
          </a:prstGeom>
          <a:ln w="1905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211312" y="4379976"/>
            <a:ext cx="3575304" cy="138988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156448" y="4315968"/>
            <a:ext cx="3575304" cy="138988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56448" y="4370831"/>
            <a:ext cx="50292" cy="1280160"/>
          </a:xfrm>
          <a:prstGeom prst="rect">
            <a:avLst/>
          </a:prstGeom>
          <a:solidFill>
            <a:srgbClr val="A8E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9327" y="4517136"/>
            <a:ext cx="365760" cy="365760"/>
          </a:xfrm>
          <a:prstGeom prst="ellipse">
            <a:avLst/>
          </a:prstGeom>
          <a:solidFill>
            <a:srgbClr val="A8E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39327" y="4572000"/>
            <a:ext cx="3657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9680" y="4480559"/>
            <a:ext cx="270662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 i="0">
                <a:solidFill>
                  <a:srgbClr val="F2F5FA"/>
                </a:solidFill>
                <a:latin typeface="Segoe UI Semibold"/>
              </a:rPr>
              <a:t>Evaluate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57616" y="4864607"/>
            <a:ext cx="3255264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Accuracy · F1 · Precision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A94A6"/>
                </a:solidFill>
                <a:latin typeface="Segoe UI"/>
              </a:rPr>
              <a:t>Recall · CM ✓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5907024"/>
            <a:ext cx="11274552" cy="329184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5943600"/>
            <a:ext cx="10872216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Segoe UI"/>
              </a:rPr>
              <a:t>Design goal: every preprocessing step preserves interpretable medical signal.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0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20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30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40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Effect">
                      <p:stCondLst>
                        <p:cond delay="5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afterEffect">
                      <p:stCondLst>
                        <p:cond delay="60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afterEffect">
                      <p:stCondLst>
                        <p:cond delay="70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afterEffect">
                      <p:stCondLst>
                        <p:cond delay="80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8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650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D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996696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Four Classifier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A progression from interpretable baseline to meta-learning stacked ensemble.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179576"/>
            <a:ext cx="2647188" cy="464515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15568"/>
            <a:ext cx="2647188" cy="464515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70432"/>
            <a:ext cx="50292" cy="4535424"/>
          </a:xfrm>
          <a:prstGeom prst="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115568"/>
            <a:ext cx="2647188" cy="777240"/>
          </a:xfrm>
          <a:prstGeom prst="round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133856"/>
            <a:ext cx="264718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Segoe UI Semibold"/>
              </a:rPr>
              <a:t>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93391"/>
            <a:ext cx="264718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F96B6B"/>
                </a:solidFill>
                <a:latin typeface="Segoe UI Black"/>
              </a:rPr>
              <a:t>85.58%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3594" y="2468880"/>
            <a:ext cx="1024128" cy="246888"/>
          </a:xfrm>
          <a:prstGeom prst="roundRect">
            <a:avLst/>
          </a:prstGeom>
          <a:solidFill>
            <a:srgbClr val="F96B6B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3322" y="2505456"/>
            <a:ext cx="859536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80" b="1" i="0">
                <a:solidFill>
                  <a:srgbClr val="070B14"/>
                </a:solidFill>
                <a:latin typeface="Segoe UI Semibold"/>
              </a:rPr>
              <a:t>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01752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0896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criterion = gini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56616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65760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No depth limit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11480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20624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Fast &amp; interpretable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66344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754879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Overfits on dropout noise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7852" y="1179576"/>
            <a:ext cx="2647188" cy="464515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32988" y="1115568"/>
            <a:ext cx="2647188" cy="464515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2988" y="1170432"/>
            <a:ext cx="50292" cy="4535424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2988" y="1115568"/>
            <a:ext cx="2647188" cy="777240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2988" y="1133856"/>
            <a:ext cx="264718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Segoe UI Semibold"/>
              </a:rPr>
              <a:t>Random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2988" y="1463040"/>
            <a:ext cx="264718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1" i="0">
                <a:solidFill>
                  <a:srgbClr val="070B14"/>
                </a:solidFill>
                <a:latin typeface="Segoe UI Semibold"/>
              </a:rPr>
              <a:t>(200 trees)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2988" y="1993391"/>
            <a:ext cx="264718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2DCEBF"/>
                </a:solidFill>
                <a:latin typeface="Segoe UI Black"/>
              </a:rPr>
              <a:t>93.30%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99382" y="2468880"/>
            <a:ext cx="850392" cy="246888"/>
          </a:xfrm>
          <a:prstGeom prst="roundRect">
            <a:avLst/>
          </a:prstGeom>
          <a:solidFill>
            <a:srgbClr val="2DCEBF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9110" y="2505456"/>
            <a:ext cx="68580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80" b="1" i="0">
                <a:solidFill>
                  <a:srgbClr val="070B14"/>
                </a:solidFill>
                <a:latin typeface="Segoe UI Semibold"/>
              </a:rPr>
              <a:t>Stable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97580" y="301752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9020" y="310896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200 estimators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97580" y="356616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9020" y="365760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Parallel bagging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97580" y="411480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9020" y="420624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Feature importance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97580" y="466344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89020" y="4754879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Smooths dropout noise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1179576"/>
            <a:ext cx="2647188" cy="464515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08776" y="1115568"/>
            <a:ext cx="2647188" cy="464515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08776" y="1170432"/>
            <a:ext cx="50292" cy="4535424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08776" y="1115568"/>
            <a:ext cx="2647188" cy="777240"/>
          </a:xfrm>
          <a:prstGeom prst="round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08776" y="1133856"/>
            <a:ext cx="264718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Segoe UI Semibold"/>
              </a:rPr>
              <a:t>XGBoost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1993391"/>
            <a:ext cx="264718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5BA8FF"/>
                </a:solidFill>
                <a:latin typeface="Segoe UI Black"/>
              </a:rPr>
              <a:t>91.47%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75170" y="2468880"/>
            <a:ext cx="937259" cy="246888"/>
          </a:xfrm>
          <a:prstGeom prst="roundRect">
            <a:avLst/>
          </a:prstGeom>
          <a:solidFill>
            <a:srgbClr val="5BA8FF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84898" y="2505456"/>
            <a:ext cx="772668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80" b="1" i="0">
                <a:solidFill>
                  <a:srgbClr val="070B14"/>
                </a:solidFill>
                <a:latin typeface="Segoe UI Semibold"/>
              </a:rPr>
              <a:t>Boosted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73368" y="301752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4808" y="310896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100 trees, lr=0.1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73368" y="356616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64808" y="365760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max_depth=6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73368" y="411480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64808" y="420624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mlogloss eval metric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73368" y="466344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4808" y="4754879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Sequential residuals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39428" y="1179576"/>
            <a:ext cx="2647188" cy="491947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84564" y="1115568"/>
            <a:ext cx="2647188" cy="491947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84564" y="1170432"/>
            <a:ext cx="50292" cy="480974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84564" y="1115568"/>
            <a:ext cx="2647188" cy="77724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84564" y="1133856"/>
            <a:ext cx="264718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Segoe UI Semibold"/>
              </a:rPr>
              <a:t>Stacking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84564" y="1463040"/>
            <a:ext cx="264718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1" i="0">
                <a:solidFill>
                  <a:srgbClr val="070B14"/>
                </a:solidFill>
                <a:latin typeface="Segoe UI Semibold"/>
              </a:rPr>
              <a:t>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84564" y="1993391"/>
            <a:ext cx="264718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FF6B2B"/>
                </a:solidFill>
                <a:latin typeface="Segoe UI Black"/>
              </a:rPr>
              <a:t>93.50%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50958" y="2468880"/>
            <a:ext cx="850392" cy="246888"/>
          </a:xfrm>
          <a:prstGeom prst="roundRect">
            <a:avLst/>
          </a:prstGeom>
          <a:solidFill>
            <a:srgbClr val="FF6B2B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0686" y="2505456"/>
            <a:ext cx="68580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80" b="1" i="0">
                <a:solidFill>
                  <a:srgbClr val="070B14"/>
                </a:solidFill>
                <a:latin typeface="Segoe UI Semibold"/>
              </a:rPr>
              <a:t>★ BEST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49156" y="301752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40596" y="310896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DT + RF + XGB base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249156" y="356616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40596" y="365760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LR meta-learner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49156" y="411480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40596" y="4206240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passthrough=True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49156" y="4663440"/>
            <a:ext cx="2391156" cy="457200"/>
          </a:xfrm>
          <a:prstGeom prst="roundRect">
            <a:avLst/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40596" y="4754879"/>
            <a:ext cx="228142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▸  5-fold stratified CV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67444" y="5532120"/>
            <a:ext cx="2281428" cy="310896"/>
          </a:xfrm>
          <a:prstGeom prst="roundRect">
            <a:avLst/>
          </a:prstGeom>
          <a:solidFill>
            <a:srgbClr val="FF6B2B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67444" y="5577840"/>
            <a:ext cx="2281428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070B14"/>
                </a:solidFill>
                <a:latin typeface="Segoe UI"/>
              </a:rPr>
              <a:t>RECOMMENDED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06" dur="5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4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0" dur="5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28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4" dur="5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42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8" dur="5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700">
    <p:fade thruBlk="0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101852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Performance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Stacking Ensemble leads with 93.50% accuracy — 7.92 points above the Decision Tree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179576"/>
            <a:ext cx="6675120" cy="475488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15568"/>
            <a:ext cx="6675120" cy="4754880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70432"/>
            <a:ext cx="50292" cy="464515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280160"/>
            <a:ext cx="411480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 Semibold"/>
              </a:rPr>
              <a:t>Accuracy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792224"/>
            <a:ext cx="23774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Decision Tree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5536" y="1837943"/>
            <a:ext cx="2926080" cy="128016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45536" y="1837943"/>
            <a:ext cx="2504139" cy="128016"/>
          </a:xfrm>
          <a:prstGeom prst="roundRect">
            <a:avLst/>
          </a:prstGeom>
          <a:solidFill>
            <a:srgbClr val="F96B6B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783080"/>
            <a:ext cx="7772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F96B6B"/>
                </a:solidFill>
                <a:latin typeface="Segoe UI"/>
              </a:rPr>
              <a:t>85.58%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670048"/>
            <a:ext cx="23774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XGBoost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45536" y="2715768"/>
            <a:ext cx="2926080" cy="128016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45536" y="2715768"/>
            <a:ext cx="2676485" cy="128016"/>
          </a:xfrm>
          <a:prstGeom prst="roundRect">
            <a:avLst/>
          </a:prstGeom>
          <a:solidFill>
            <a:srgbClr val="5BA8FF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2660903"/>
            <a:ext cx="7772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5BA8FF"/>
                </a:solidFill>
                <a:latin typeface="Segoe UI"/>
              </a:rPr>
              <a:t>91.47%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47872"/>
            <a:ext cx="23774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Random Forest (200)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5536" y="3593591"/>
            <a:ext cx="2926080" cy="128016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45536" y="3593591"/>
            <a:ext cx="2730032" cy="128016"/>
          </a:xfrm>
          <a:prstGeom prst="roundRect">
            <a:avLst/>
          </a:prstGeom>
          <a:solidFill>
            <a:srgbClr val="3DD68C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538727"/>
            <a:ext cx="7772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3DD68C"/>
                </a:solidFill>
                <a:latin typeface="Segoe UI"/>
              </a:rPr>
              <a:t>93.30%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425696"/>
            <a:ext cx="23774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C8D0DE"/>
                </a:solidFill>
                <a:latin typeface="Segoe UI"/>
              </a:rPr>
              <a:t>Stacking Ensemble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45536" y="4471416"/>
            <a:ext cx="2926080" cy="128016"/>
          </a:xfrm>
          <a:prstGeom prst="roundRect">
            <a:avLst/>
          </a:prstGeom>
          <a:solidFill>
            <a:srgbClr val="1E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45536" y="4471416"/>
            <a:ext cx="2735884" cy="128016"/>
          </a:xfrm>
          <a:prstGeom prst="roundRect">
            <a:avLst/>
          </a:prstGeom>
          <a:solidFill>
            <a:srgbClr val="FF6B2B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416552"/>
            <a:ext cx="7772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050" b="1" i="0">
                <a:solidFill>
                  <a:srgbClr val="FF6B2B"/>
                </a:solidFill>
                <a:latin typeface="Segoe UI"/>
              </a:rPr>
              <a:t>93.50%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248656"/>
            <a:ext cx="2103120" cy="62179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184648"/>
            <a:ext cx="2103120" cy="621792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239512"/>
            <a:ext cx="50292" cy="512064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257800"/>
            <a:ext cx="1865376" cy="2735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 i="0">
                <a:solidFill>
                  <a:srgbClr val="FFB330"/>
                </a:solidFill>
                <a:latin typeface="Segoe UI Black"/>
              </a:rPr>
              <a:t>+7.92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570159"/>
            <a:ext cx="1920239" cy="21140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accuracy pts vs DT baseline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99232" y="5248656"/>
            <a:ext cx="2103120" cy="62179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44368" y="5184648"/>
            <a:ext cx="2103120" cy="621792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44368" y="5239512"/>
            <a:ext cx="50292" cy="512064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72384" y="5257800"/>
            <a:ext cx="1865376" cy="2735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 i="0">
                <a:solidFill>
                  <a:srgbClr val="2DCEBF"/>
                </a:solidFill>
                <a:latin typeface="Segoe UI Black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5808" y="5570159"/>
            <a:ext cx="1920239" cy="21140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models benchmarked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85231" y="5248656"/>
            <a:ext cx="1719072" cy="62179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30368" y="5184648"/>
            <a:ext cx="1719072" cy="621792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30368" y="5239512"/>
            <a:ext cx="50292" cy="512064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58383" y="5257800"/>
            <a:ext cx="1481328" cy="2735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 i="0">
                <a:solidFill>
                  <a:srgbClr val="5BA8FF"/>
                </a:solidFill>
                <a:latin typeface="Segoe UI Black"/>
              </a:rPr>
              <a:t>985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21807" y="5570159"/>
            <a:ext cx="1536192" cy="21140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test samples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80" y="1179576"/>
            <a:ext cx="4206240" cy="475488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43216" y="1115568"/>
            <a:ext cx="4206240" cy="4754880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43216" y="1170432"/>
            <a:ext cx="50292" cy="4645152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43216" y="1115568"/>
            <a:ext cx="4206240" cy="438912"/>
          </a:xfrm>
          <a:prstGeom prst="roundRect">
            <a:avLst/>
          </a:prstGeom>
          <a:solidFill>
            <a:srgbClr val="282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26096" y="1197864"/>
            <a:ext cx="12801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1" i="0">
                <a:solidFill>
                  <a:srgbClr val="FFB330"/>
                </a:solidFill>
                <a:latin typeface="Segoe UI"/>
              </a:rPr>
              <a:t>Model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1197864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1" i="0">
                <a:solidFill>
                  <a:srgbClr val="FFB330"/>
                </a:solidFill>
                <a:latin typeface="Segoe UI"/>
              </a:rPr>
              <a:t>Acc.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1197864"/>
            <a:ext cx="5943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1" i="0">
                <a:solidFill>
                  <a:srgbClr val="FFB330"/>
                </a:solidFill>
                <a:latin typeface="Segoe UI"/>
              </a:rPr>
              <a:t>Prec.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1197864"/>
            <a:ext cx="59436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1" i="0">
                <a:solidFill>
                  <a:srgbClr val="FFB330"/>
                </a:solidFill>
                <a:latin typeface="Segoe UI"/>
              </a:rPr>
              <a:t>Rec.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5952" y="1197864"/>
            <a:ext cx="548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1" i="0">
                <a:solidFill>
                  <a:srgbClr val="FFB330"/>
                </a:solidFill>
                <a:latin typeface="Segoe UI"/>
              </a:rPr>
              <a:t>F1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26096" y="1664207"/>
            <a:ext cx="3822191" cy="621792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6096" y="1810511"/>
            <a:ext cx="12801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F96B6B"/>
                </a:solidFill>
                <a:latin typeface="Segoe UI"/>
              </a:rPr>
              <a:t>Decision Tree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34272" y="1810511"/>
            <a:ext cx="64008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85.58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02368" y="1810511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0.86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1810511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45952" y="1810511"/>
            <a:ext cx="5486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0.86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626096" y="2304287"/>
            <a:ext cx="3822192" cy="0"/>
          </a:xfrm>
          <a:prstGeom prst="line">
            <a:avLst/>
          </a:prstGeom>
          <a:ln w="635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626096" y="2414015"/>
            <a:ext cx="3822191" cy="621792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6096" y="2560320"/>
            <a:ext cx="12801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5BA8FF"/>
                </a:solidFill>
                <a:latin typeface="Segoe UI"/>
              </a:rPr>
              <a:t>XGBoost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34272" y="2560320"/>
            <a:ext cx="64008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91.47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02368" y="2560320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0.92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2560320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0.91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45952" y="2560320"/>
            <a:ext cx="5486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0.91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626096" y="3054096"/>
            <a:ext cx="3822192" cy="0"/>
          </a:xfrm>
          <a:prstGeom prst="line">
            <a:avLst/>
          </a:prstGeom>
          <a:ln w="635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626096" y="3163824"/>
            <a:ext cx="3822191" cy="621792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26096" y="3310128"/>
            <a:ext cx="12801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3DD68C"/>
                </a:solidFill>
                <a:latin typeface="Segoe UI"/>
              </a:rPr>
              <a:t>Random Forest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4272" y="3310128"/>
            <a:ext cx="64008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93.30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02368" y="3310128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0.94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24160" y="3310128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0.93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45952" y="3310128"/>
            <a:ext cx="5486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0.93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626096" y="3803904"/>
            <a:ext cx="3822192" cy="0"/>
          </a:xfrm>
          <a:prstGeom prst="line">
            <a:avLst/>
          </a:prstGeom>
          <a:ln w="635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7626096" y="3913631"/>
            <a:ext cx="3822191" cy="621792"/>
          </a:xfrm>
          <a:prstGeom prst="roundRect">
            <a:avLst/>
          </a:prstGeom>
          <a:solidFill>
            <a:srgbClr val="201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26096" y="4059935"/>
            <a:ext cx="12801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1" i="0">
                <a:solidFill>
                  <a:srgbClr val="FF6B2B"/>
                </a:solidFill>
                <a:latin typeface="Segoe UI"/>
              </a:rPr>
              <a:t>Stacking (★ Best)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4272" y="4059935"/>
            <a:ext cx="64008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1" i="0">
                <a:solidFill>
                  <a:srgbClr val="FF6B2B"/>
                </a:solidFill>
                <a:latin typeface="Segoe UI"/>
              </a:rPr>
              <a:t>93.50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02368" y="4059935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1" i="0">
                <a:solidFill>
                  <a:srgbClr val="FF6B2B"/>
                </a:solidFill>
                <a:latin typeface="Segoe UI"/>
              </a:rPr>
              <a:t>0.94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24160" y="4059935"/>
            <a:ext cx="5943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1" i="0">
                <a:solidFill>
                  <a:srgbClr val="FF6B2B"/>
                </a:solidFill>
                <a:latin typeface="Segoe UI"/>
              </a:rPr>
              <a:t>0.93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45952" y="4059935"/>
            <a:ext cx="54864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1" i="0">
                <a:solidFill>
                  <a:srgbClr val="FF6B2B"/>
                </a:solidFill>
                <a:latin typeface="Segoe UI"/>
              </a:rPr>
              <a:t>0.93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43216" y="5212080"/>
            <a:ext cx="4206240" cy="512064"/>
          </a:xfrm>
          <a:prstGeom prst="roundRect">
            <a:avLst/>
          </a:prstGeom>
          <a:solidFill>
            <a:srgbClr val="261806"/>
          </a:solidFill>
          <a:ln w="15240">
            <a:solidFill>
              <a:srgbClr val="FF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26096" y="5303520"/>
            <a:ext cx="3822191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1" i="0">
                <a:solidFill>
                  <a:srgbClr val="FF6B2B"/>
                </a:solidFill>
                <a:latin typeface="Segoe UI"/>
              </a:rPr>
              <a:t>★  Stacking Ensemble 93.50%  —  macro F1 0.93  —  BEST MODEL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20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700">
    <p:fade thruBlk="0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627632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Stacking Ensemble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Base learners produce probability outputs; the meta-learner blends them + raw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2016251"/>
            <a:ext cx="1737360" cy="74980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952243"/>
            <a:ext cx="1737360" cy="749808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07107"/>
            <a:ext cx="50292" cy="640080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43684"/>
            <a:ext cx="155448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>
                <a:solidFill>
                  <a:srgbClr val="F2F5FA"/>
                </a:solidFill>
                <a:latin typeface="Segoe U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54579"/>
            <a:ext cx="155448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135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2344" y="1362456"/>
            <a:ext cx="2286000" cy="59436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80" y="1298448"/>
            <a:ext cx="2286000" cy="59436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353312"/>
            <a:ext cx="50292" cy="484632"/>
          </a:xfrm>
          <a:prstGeom prst="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1335024"/>
            <a:ext cx="22860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Segoe UI Semibold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591056"/>
            <a:ext cx="228600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Tree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221991" y="1595628"/>
            <a:ext cx="448057" cy="731520"/>
          </a:xfrm>
          <a:prstGeom prst="line">
            <a:avLst/>
          </a:prstGeom>
          <a:ln w="13970">
            <a:solidFill>
              <a:srgbClr val="F9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52344" y="2093975"/>
            <a:ext cx="2286000" cy="59436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97480" y="2029967"/>
            <a:ext cx="2286000" cy="59436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97480" y="2084831"/>
            <a:ext cx="50292" cy="484632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066543"/>
            <a:ext cx="22860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Segoe UI Semibold"/>
              </a:rPr>
              <a:t>Random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322575"/>
            <a:ext cx="228600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C8D0DE"/>
                </a:solidFill>
                <a:latin typeface="Segoe UI"/>
              </a:rPr>
              <a:t>Forest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21991" y="2327148"/>
            <a:ext cx="448057" cy="0"/>
          </a:xfrm>
          <a:prstGeom prst="line">
            <a:avLst/>
          </a:prstGeom>
          <a:ln w="13970">
            <a:solidFill>
              <a:srgbClr val="2DCE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52344" y="2825496"/>
            <a:ext cx="2286000" cy="59436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97480" y="2761488"/>
            <a:ext cx="2286000" cy="59436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97480" y="2816352"/>
            <a:ext cx="50292" cy="484632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2926080"/>
            <a:ext cx="22860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Segoe UI Semibold"/>
              </a:rPr>
              <a:t>XGBoost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21991" y="2327148"/>
            <a:ext cx="448057" cy="731520"/>
          </a:xfrm>
          <a:prstGeom prst="line">
            <a:avLst/>
          </a:prstGeom>
          <a:ln w="13970">
            <a:solidFill>
              <a:srgbClr val="5B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21991" y="2327148"/>
            <a:ext cx="3401569" cy="0"/>
          </a:xfrm>
          <a:prstGeom prst="line">
            <a:avLst/>
          </a:prstGeom>
          <a:ln w="12700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0" y="2107691"/>
            <a:ext cx="2286000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1">
                <a:solidFill>
                  <a:srgbClr val="8A94A6"/>
                </a:solidFill>
                <a:latin typeface="Segoe UI"/>
              </a:rPr>
              <a:t>passthrough=True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10912" y="1595628"/>
            <a:ext cx="585216" cy="731520"/>
          </a:xfrm>
          <a:prstGeom prst="line">
            <a:avLst/>
          </a:prstGeom>
          <a:ln w="13970">
            <a:solidFill>
              <a:srgbClr val="F9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10912" y="2327148"/>
            <a:ext cx="585216" cy="0"/>
          </a:xfrm>
          <a:prstGeom prst="line">
            <a:avLst/>
          </a:prstGeom>
          <a:ln w="13970">
            <a:solidFill>
              <a:srgbClr val="2DCE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010912" y="2327148"/>
            <a:ext cx="585216" cy="731520"/>
          </a:xfrm>
          <a:prstGeom prst="line">
            <a:avLst/>
          </a:prstGeom>
          <a:ln w="13970">
            <a:solidFill>
              <a:srgbClr val="5B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678424" y="2002535"/>
            <a:ext cx="2743200" cy="91440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23560" y="1938527"/>
            <a:ext cx="2743200" cy="914400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23560" y="1993391"/>
            <a:ext cx="50292" cy="804672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1993391"/>
            <a:ext cx="27432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Segoe UI Semibold"/>
              </a:rPr>
              <a:t>Meta-Learner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2267711"/>
            <a:ext cx="2743200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0">
                <a:solidFill>
                  <a:srgbClr val="FFB330"/>
                </a:solidFill>
                <a:latin typeface="Segoe UI"/>
              </a:rPr>
              <a:t>Logistic Regression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2487168"/>
            <a:ext cx="2743200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50" b="0" i="0">
                <a:solidFill>
                  <a:srgbClr val="8A94A6"/>
                </a:solidFill>
                <a:latin typeface="Segoe UI"/>
              </a:rPr>
              <a:t>C=0.1  |  saga  |  max_iter=3000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94192" y="2327148"/>
            <a:ext cx="566928" cy="0"/>
          </a:xfrm>
          <a:prstGeom prst="line">
            <a:avLst/>
          </a:prstGeom>
          <a:ln w="19050">
            <a:solidFill>
              <a:srgbClr val="A8E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034272" y="2002535"/>
            <a:ext cx="2240280" cy="91440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79408" y="1938527"/>
            <a:ext cx="2240280" cy="91440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79408" y="1993391"/>
            <a:ext cx="50292" cy="804672"/>
          </a:xfrm>
          <a:prstGeom prst="rect">
            <a:avLst/>
          </a:prstGeom>
          <a:solidFill>
            <a:srgbClr val="A8E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79408" y="2029967"/>
            <a:ext cx="22402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Segoe UI"/>
              </a:rPr>
              <a:t>Prediction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9408" y="2340863"/>
            <a:ext cx="224028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Final disease label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2064" y="3602736"/>
            <a:ext cx="2647188" cy="157276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3538728"/>
            <a:ext cx="2647188" cy="157276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593592"/>
            <a:ext cx="50292" cy="1463040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3648456"/>
            <a:ext cx="237286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FFB330"/>
                </a:solidFill>
                <a:latin typeface="Segoe UI Semibold"/>
              </a:rPr>
              <a:t>5-Fold CV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014216"/>
            <a:ext cx="2372868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Out-of-fold predictions during training prevent data leakage to the meta-learner.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7852" y="3602736"/>
            <a:ext cx="2647188" cy="157276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332988" y="3538728"/>
            <a:ext cx="2647188" cy="157276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32988" y="3593592"/>
            <a:ext cx="50292" cy="146304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15868" y="3648456"/>
            <a:ext cx="237286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FF6B2B"/>
                </a:solidFill>
                <a:latin typeface="Segoe UI Semibold"/>
              </a:rPr>
              <a:t>passthrough=True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5868" y="4014216"/>
            <a:ext cx="2372868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Meta-learner sees raw features AND base model outputs — corrects cases all 3 models miss.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3602736"/>
            <a:ext cx="2647188" cy="157276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208776" y="3538728"/>
            <a:ext cx="2647188" cy="157276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08776" y="3593592"/>
            <a:ext cx="50292" cy="1463040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91656" y="3648456"/>
            <a:ext cx="237286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2DCEBF"/>
                </a:solidFill>
                <a:latin typeface="Segoe UI Semibold"/>
              </a:rPr>
              <a:t>predict_proba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014216"/>
            <a:ext cx="2372868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Passes full probability distributions, not just hard labels — richer meta-input.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39428" y="3602736"/>
            <a:ext cx="2647188" cy="157276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084564" y="3538728"/>
            <a:ext cx="2647188" cy="157276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84564" y="3593592"/>
            <a:ext cx="50292" cy="14630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67444" y="3648456"/>
            <a:ext cx="237286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3DD68C"/>
                </a:solidFill>
                <a:latin typeface="Segoe UI Semibold"/>
              </a:rPr>
              <a:t>+0.20% over RF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7444" y="4014216"/>
            <a:ext cx="2372868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Meta-learner recovers residual errors on hard disease-boundary samples.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20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40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Effect">
                      <p:stCondLst>
                        <p:cond delay="52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afterEffect">
                      <p:stCondLst>
                        <p:cond delay="64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afterEffect">
                      <p:stCondLst>
                        <p:cond delay="76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650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A8E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837944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Feature Importance  (Random Forest)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Top symptoms driving disease discrimination — and confirmation that age adds real predictive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179576"/>
            <a:ext cx="6949440" cy="502920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15568"/>
            <a:ext cx="6949440" cy="5029200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70432"/>
            <a:ext cx="50292" cy="491947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280160"/>
            <a:ext cx="640080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Segoe UI Semibold"/>
              </a:rPr>
              <a:t>Top 10 Most Discriminative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746504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Yellowing Of Eyes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773936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773936"/>
            <a:ext cx="4213555" cy="128016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815" y="1737360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Segoe UI"/>
              </a:rPr>
              <a:t>0.048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7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Dark Urine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194560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2194560"/>
            <a:ext cx="3862425" cy="128016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71815" y="2157984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Segoe UI"/>
              </a:rPr>
              <a:t>0.044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587751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Sweating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615184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0" y="2615184"/>
            <a:ext cx="3599078" cy="128016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5" y="2578608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2DCEBF"/>
                </a:solidFill>
                <a:latin typeface="Segoe UI"/>
              </a:rPr>
              <a:t>0.041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008375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Chills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035808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00400" y="3035808"/>
            <a:ext cx="3335731" cy="128016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71815" y="2999232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2DCEBF"/>
                </a:solidFill>
                <a:latin typeface="Segoe UI"/>
              </a:rPr>
              <a:t>0.038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428999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1" i="0">
                <a:solidFill>
                  <a:srgbClr val="FF6B2B"/>
                </a:solidFill>
                <a:latin typeface="Segoe UI"/>
              </a:rPr>
              <a:t>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456432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00400" y="3456432"/>
            <a:ext cx="3072384" cy="128016"/>
          </a:xfrm>
          <a:prstGeom prst="round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1815" y="3419856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F96B6B"/>
                </a:solidFill>
                <a:latin typeface="Segoe UI"/>
              </a:rPr>
              <a:t>0.035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849624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Loss Of Appetite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877055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200400" y="3877055"/>
            <a:ext cx="2896819" cy="128016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71815" y="3840479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2DCEBF"/>
                </a:solidFill>
                <a:latin typeface="Segoe UI"/>
              </a:rPr>
              <a:t>0.033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270248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Fatigue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4297680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00400" y="4297680"/>
            <a:ext cx="2721254" cy="128016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71815" y="4261104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2DCEBF"/>
                </a:solidFill>
                <a:latin typeface="Segoe UI"/>
              </a:rPr>
              <a:t>0.031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90872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High Fever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0" y="4718303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00400" y="4718303"/>
            <a:ext cx="2545689" cy="128016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71815" y="4681727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2DCEBF"/>
                </a:solidFill>
                <a:latin typeface="Segoe UI"/>
              </a:rPr>
              <a:t>0.029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111496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Vomiting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138928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200400" y="5138928"/>
            <a:ext cx="2370124" cy="128016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71815" y="5102352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2DCEBF"/>
                </a:solidFill>
                <a:latin typeface="Segoe UI"/>
              </a:rPr>
              <a:t>0.027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532120"/>
            <a:ext cx="2423160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C8D0DE"/>
                </a:solidFill>
                <a:latin typeface="Segoe UI"/>
              </a:rPr>
              <a:t>Nausea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5559552"/>
            <a:ext cx="4389120" cy="128016"/>
          </a:xfrm>
          <a:prstGeom prst="roundRect">
            <a:avLst/>
          </a:prstGeom>
          <a:solidFill>
            <a:srgbClr val="1A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200400" y="5559552"/>
            <a:ext cx="2194560" cy="128016"/>
          </a:xfrm>
          <a:prstGeom prst="round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71815" y="5522976"/>
            <a:ext cx="64008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 i="0">
                <a:solidFill>
                  <a:srgbClr val="2DCEBF"/>
                </a:solidFill>
                <a:latin typeface="Segoe UI"/>
              </a:rPr>
              <a:t>0.025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54112" y="1179576"/>
            <a:ext cx="3913632" cy="502920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699248" y="1115568"/>
            <a:ext cx="3913632" cy="5029200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99248" y="1170432"/>
            <a:ext cx="50292" cy="4919472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82127" y="1280160"/>
            <a:ext cx="352044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Segoe UI Semibold"/>
              </a:rPr>
              <a:t>Key Insights</a:t>
            </a:r>
          </a:p>
        </p:txBody>
      </p:sp>
      <p:sp>
        <p:nvSpPr>
          <p:cNvPr id="58" name="Oval 57"/>
          <p:cNvSpPr/>
          <p:nvPr/>
        </p:nvSpPr>
        <p:spPr>
          <a:xfrm>
            <a:off x="7882127" y="1828800"/>
            <a:ext cx="164592" cy="164592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3024" y="1810512"/>
            <a:ext cx="321868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FF6B2B"/>
                </a:solidFill>
                <a:latin typeface="Segoe UI Semibold"/>
              </a:rPr>
              <a:t>Jaundice cluster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4" y="2048255"/>
            <a:ext cx="3218688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Yellowing of eyes + dark urine rank #1 and #2 — strong hepatitis discriminators.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882127" y="2578608"/>
            <a:ext cx="3474721" cy="0"/>
          </a:xfrm>
          <a:prstGeom prst="line">
            <a:avLst/>
          </a:prstGeom>
          <a:ln w="508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882127" y="2688336"/>
            <a:ext cx="164592" cy="164592"/>
          </a:xfrm>
          <a:prstGeom prst="ellipse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93024" y="2670048"/>
            <a:ext cx="321868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F96B6B"/>
                </a:solidFill>
                <a:latin typeface="Segoe UI Semibold"/>
              </a:rPr>
              <a:t>Age ranks #5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4" y="2907791"/>
            <a:ext cx="3218688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Confirms epidemiological prior knowledge adds real signal beyond symptoms alone.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882127" y="3438144"/>
            <a:ext cx="3474721" cy="0"/>
          </a:xfrm>
          <a:prstGeom prst="line">
            <a:avLst/>
          </a:prstGeom>
          <a:ln w="508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7882127" y="3547872"/>
            <a:ext cx="164592" cy="164592"/>
          </a:xfrm>
          <a:prstGeom prst="ellipse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93024" y="3529584"/>
            <a:ext cx="321868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2DCEBF"/>
                </a:solidFill>
                <a:latin typeface="Segoe UI Semibold"/>
              </a:rPr>
              <a:t>Fever-adjacent features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767328"/>
            <a:ext cx="3218688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Sweating, chills, high fever rank high but are less unique — shared across many diseases.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882127" y="4297680"/>
            <a:ext cx="3474721" cy="0"/>
          </a:xfrm>
          <a:prstGeom prst="line">
            <a:avLst/>
          </a:prstGeom>
          <a:ln w="508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7882127" y="4407407"/>
            <a:ext cx="164592" cy="164592"/>
          </a:xfrm>
          <a:prstGeom prst="ellipse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93024" y="4389120"/>
            <a:ext cx="321868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5BA8FF"/>
                </a:solidFill>
                <a:latin typeface="Segoe UI Semibold"/>
              </a:rPr>
              <a:t>Severity matters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3024" y="4626864"/>
            <a:ext cx="3218688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Continuous severity weights give each symptom a gradient signal, not just binary presence.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882127" y="5157216"/>
            <a:ext cx="3474721" cy="0"/>
          </a:xfrm>
          <a:prstGeom prst="line">
            <a:avLst/>
          </a:prstGeom>
          <a:ln w="508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7882127" y="5266943"/>
            <a:ext cx="164592" cy="164592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93024" y="5248655"/>
            <a:ext cx="321868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3DD68C"/>
                </a:solidFill>
                <a:latin typeface="Segoe UI Semibold"/>
              </a:rPr>
              <a:t>Clinical alignment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93024" y="5486399"/>
            <a:ext cx="3218688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The importance ranking matches known clinical diagnostic hierarchies for these diseases.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20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650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417320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Strengths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What the numbers mean and where the current system can still improve.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179576"/>
            <a:ext cx="5454396" cy="491947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15568"/>
            <a:ext cx="5454396" cy="491947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70432"/>
            <a:ext cx="50292" cy="4809744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115568"/>
            <a:ext cx="5454396" cy="457200"/>
          </a:xfrm>
          <a:prstGeom prst="round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188720"/>
            <a:ext cx="5180076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070B14"/>
                </a:solidFill>
                <a:latin typeface="Segoe UI Semibold"/>
              </a:rPr>
              <a:t>✓  What Works Well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09928"/>
            <a:ext cx="5180076" cy="749808"/>
          </a:xfrm>
          <a:prstGeom prst="roundRect">
            <a:avLst/>
          </a:prstGeom>
          <a:solidFill>
            <a:srgbClr val="0C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83080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3DD68C"/>
                </a:solidFill>
                <a:latin typeface="Segoe UI Semibold"/>
              </a:rPr>
              <a:t>Severity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39112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Outperforms binary encoding — each symptom contributes a continuous clinical weight.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51176"/>
            <a:ext cx="5180076" cy="749808"/>
          </a:xfrm>
          <a:prstGeom prst="roundRect">
            <a:avLst/>
          </a:prstGeom>
          <a:solidFill>
            <a:srgbClr val="0C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24328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3DD68C"/>
                </a:solidFill>
                <a:latin typeface="Segoe UI Semibold"/>
              </a:rPr>
              <a:t>Age feature (#5 rank)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80360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Epidemiological priors add real discriminative power, confirmed by importance scores.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92424"/>
            <a:ext cx="5180076" cy="749808"/>
          </a:xfrm>
          <a:prstGeom prst="roundRect">
            <a:avLst/>
          </a:prstGeom>
          <a:solidFill>
            <a:srgbClr val="0C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65576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3DD68C"/>
                </a:solidFill>
                <a:latin typeface="Segoe UI Semibold"/>
              </a:rPr>
              <a:t>50% dropout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21608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Models are robust to missing symptoms at test time — realistic clinical behaviour.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33672"/>
            <a:ext cx="5180076" cy="749808"/>
          </a:xfrm>
          <a:prstGeom prst="roundRect">
            <a:avLst/>
          </a:prstGeom>
          <a:solidFill>
            <a:srgbClr val="0C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06824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3DD68C"/>
                </a:solidFill>
                <a:latin typeface="Segoe UI Semibold"/>
              </a:rPr>
              <a:t>Balanced 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62856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All 41 classes have ~120 records → accuracy is a meaningful metric here.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74920"/>
            <a:ext cx="5180076" cy="749808"/>
          </a:xfrm>
          <a:prstGeom prst="roundRect">
            <a:avLst/>
          </a:prstGeom>
          <a:solidFill>
            <a:srgbClr val="0C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48072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3DD68C"/>
                </a:solidFill>
                <a:latin typeface="Segoe UI Semibold"/>
              </a:rPr>
              <a:t>Stacking passthrough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04104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Meta-learner corrects cases where all base models agree but are wrong.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2220" y="1179576"/>
            <a:ext cx="5454396" cy="4919472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77356" y="1115568"/>
            <a:ext cx="5454396" cy="4919472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7356" y="1170432"/>
            <a:ext cx="50292" cy="4809744"/>
          </a:xfrm>
          <a:prstGeom prst="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77356" y="1115568"/>
            <a:ext cx="5454396" cy="457200"/>
          </a:xfrm>
          <a:prstGeom prst="roundRect">
            <a:avLst/>
          </a:prstGeom>
          <a:solidFill>
            <a:srgbClr val="F9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8524" y="1188720"/>
            <a:ext cx="5180076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070B14"/>
                </a:solidFill>
                <a:latin typeface="Segoe UI Semibold"/>
              </a:rPr>
              <a:t>✗  Current Limitations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60236" y="1709928"/>
            <a:ext cx="5180076" cy="749808"/>
          </a:xfrm>
          <a:prstGeom prst="roundRect">
            <a:avLst/>
          </a:prstGeom>
          <a:solidFill>
            <a:srgbClr val="1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7396" y="1783080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F96B6B"/>
                </a:solidFill>
                <a:latin typeface="Segoe UI Semibold"/>
              </a:rPr>
              <a:t>Structured checklist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7396" y="2039112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Patients describe symptoms in natural language — not ticked checkboxes.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60236" y="2551176"/>
            <a:ext cx="5180076" cy="749808"/>
          </a:xfrm>
          <a:prstGeom prst="roundRect">
            <a:avLst/>
          </a:prstGeom>
          <a:solidFill>
            <a:srgbClr val="1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7396" y="2624328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F96B6B"/>
                </a:solidFill>
                <a:latin typeface="Segoe UI Semibold"/>
              </a:rPr>
              <a:t>Hepatitis variants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7396" y="2880360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B / C / D / E still confused — lab tests needed for final differentiation.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0236" y="3392424"/>
            <a:ext cx="5180076" cy="749808"/>
          </a:xfrm>
          <a:prstGeom prst="roundRect">
            <a:avLst/>
          </a:prstGeom>
          <a:solidFill>
            <a:srgbClr val="1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7396" y="3465576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F96B6B"/>
                </a:solidFill>
                <a:latin typeface="Segoe UI Semibold"/>
              </a:rPr>
              <a:t>No hyperparameter tuning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7396" y="3721608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Optuna / GridSearchCV could push accuracy beyond current levels.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60236" y="4233672"/>
            <a:ext cx="5180076" cy="749808"/>
          </a:xfrm>
          <a:prstGeom prst="roundRect">
            <a:avLst/>
          </a:prstGeom>
          <a:solidFill>
            <a:srgbClr val="1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7396" y="4306824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F96B6B"/>
                </a:solidFill>
                <a:latin typeface="Segoe UI Semibold"/>
              </a:rPr>
              <a:t>Synthetic-style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97396" y="4562856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Clean, structured labels — real clinical records are significantly noisier.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60236" y="5074920"/>
            <a:ext cx="5180076" cy="749808"/>
          </a:xfrm>
          <a:prstGeom prst="roundRect">
            <a:avLst/>
          </a:prstGeom>
          <a:solidFill>
            <a:srgbClr val="1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97396" y="5148072"/>
            <a:ext cx="4978908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F96B6B"/>
                </a:solidFill>
                <a:latin typeface="Segoe UI Semibold"/>
              </a:rPr>
              <a:t>No vital signs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7396" y="5404104"/>
            <a:ext cx="497890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50" b="0" i="0">
                <a:solidFill>
                  <a:srgbClr val="8A94A6"/>
                </a:solidFill>
                <a:latin typeface="Segoe UI"/>
              </a:rPr>
              <a:t>No gender, blood pressure, temperature, or lab values as features yet.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6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5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700">
    <p:fade thruBlk="0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28016"/>
            <a:ext cx="1101852" cy="27432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37160"/>
            <a:ext cx="320040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50" b="1" i="0">
                <a:solidFill>
                  <a:srgbClr val="070B14"/>
                </a:solidFill>
                <a:latin typeface="Segoe UI Semibold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Segoe UI Semibold"/>
              </a:rPr>
              <a:t>Future Scope &amp; Deployment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92451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Segoe UI"/>
              </a:rPr>
              <a:t>From academic prototype to a deployable clinical decision-support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179576"/>
            <a:ext cx="3605784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15568"/>
            <a:ext cx="3605784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70432"/>
            <a:ext cx="50292" cy="1828800"/>
          </a:xfrm>
          <a:prstGeom prst="rect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1316736"/>
            <a:ext cx="384048" cy="384048"/>
          </a:xfrm>
          <a:prstGeom prst="ellipse">
            <a:avLst/>
          </a:prstGeom>
          <a:solidFill>
            <a:srgbClr val="5B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393545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1316736"/>
            <a:ext cx="2709672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 Semibold"/>
              </a:rPr>
              <a:t>Hyperparameter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3276600" cy="11521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Optuna / GridSearchCV on XGB depth and LR regularisation constant 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6448" y="1179576"/>
            <a:ext cx="3605784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1584" y="1115568"/>
            <a:ext cx="3605784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1584" y="1170432"/>
            <a:ext cx="50292" cy="1828800"/>
          </a:xfrm>
          <a:prstGeom prst="rect">
            <a:avLst/>
          </a:prstGeom>
          <a:solidFill>
            <a:srgbClr val="BD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92752" y="1316736"/>
            <a:ext cx="384048" cy="384048"/>
          </a:xfrm>
          <a:prstGeom prst="ellipse">
            <a:avLst/>
          </a:prstGeom>
          <a:solidFill>
            <a:srgbClr val="BD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2752" y="1393545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1392" y="1316736"/>
            <a:ext cx="2709672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 Semibold"/>
              </a:rPr>
              <a:t>Neural 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752" y="1755648"/>
            <a:ext cx="3276600" cy="11521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MLP or Transformer encoder for higher-order symptom co-occurrence patterns.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0832" y="1179576"/>
            <a:ext cx="3605784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5968" y="1115568"/>
            <a:ext cx="3605784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5968" y="1170432"/>
            <a:ext cx="50292" cy="1828800"/>
          </a:xfrm>
          <a:prstGeom prst="rect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7136" y="1316736"/>
            <a:ext cx="384048" cy="384048"/>
          </a:xfrm>
          <a:prstGeom prst="ellipse">
            <a:avLst/>
          </a:prstGeom>
          <a:solidFill>
            <a:srgbClr val="2D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7136" y="1393545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5776" y="1316736"/>
            <a:ext cx="2709672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 Semibold"/>
              </a:rPr>
              <a:t>SHAP 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7136" y="1755648"/>
            <a:ext cx="3276600" cy="11521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Per-patient "why" explanations — critical for clinical trust and auditability.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3392423"/>
            <a:ext cx="3605784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3328415"/>
            <a:ext cx="3605784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79"/>
            <a:ext cx="50292" cy="18288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" y="3529584"/>
            <a:ext cx="384048" cy="384048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606393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7" y="3529584"/>
            <a:ext cx="2709672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 Semibold"/>
              </a:rPr>
              <a:t>Web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3968496"/>
            <a:ext cx="3276600" cy="11521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FastAPI backend + React symptom-input form → working prototype in a browser.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6448" y="3392423"/>
            <a:ext cx="3605784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91584" y="3328415"/>
            <a:ext cx="3605784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1584" y="3383279"/>
            <a:ext cx="50292" cy="1828800"/>
          </a:xfrm>
          <a:prstGeom prst="rect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92752" y="3529584"/>
            <a:ext cx="384048" cy="384048"/>
          </a:xfrm>
          <a:prstGeom prst="ellipse">
            <a:avLst/>
          </a:prstGeom>
          <a:solidFill>
            <a:srgbClr val="FFB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2752" y="3606393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1392" y="3529584"/>
            <a:ext cx="2709672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 Semibold"/>
              </a:rPr>
              <a:t>Richer Patient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2752" y="3968496"/>
            <a:ext cx="3276600" cy="11521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Add gender, blood pressure, temperature, and basic lab values (CBC, LFT).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80832" y="3392423"/>
            <a:ext cx="3605784" cy="1938528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25968" y="3328415"/>
            <a:ext cx="3605784" cy="1938528"/>
          </a:xfrm>
          <a:prstGeom prst="roundRect">
            <a:avLst/>
          </a:prstGeom>
          <a:solidFill>
            <a:srgbClr val="101522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5968" y="3383279"/>
            <a:ext cx="50292" cy="18288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27136" y="3529584"/>
            <a:ext cx="384048" cy="38404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7136" y="3606393"/>
            <a:ext cx="384048" cy="211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070B14"/>
                </a:solidFill>
                <a:latin typeface="Segoe UI Black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75776" y="3529584"/>
            <a:ext cx="2709672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 Semibold"/>
              </a:rPr>
              <a:t>Clinical NLP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7136" y="3968496"/>
            <a:ext cx="3276600" cy="11521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>
                <a:solidFill>
                  <a:srgbClr val="8A94A6"/>
                </a:solidFill>
                <a:latin typeface="Segoe UI"/>
              </a:rPr>
              <a:t>Extract symptoms from free-text discharge summaries via NLP / LLM pipeline.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61888"/>
            <a:ext cx="11274552" cy="384048"/>
          </a:xfrm>
          <a:prstGeom prst="roundRect">
            <a:avLst/>
          </a:prstGeom>
          <a:solidFill>
            <a:srgbClr val="101A2A"/>
          </a:solidFill>
          <a:ln w="15240">
            <a:solidFill>
              <a:srgbClr val="5B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6016752"/>
            <a:ext cx="10817352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i="0">
                <a:solidFill>
                  <a:srgbClr val="5BA8FF"/>
                </a:solidFill>
                <a:latin typeface="Segoe UI"/>
              </a:rPr>
              <a:t>Applications:  GP clinics  ·  Remote health workers  ·  Symptom checker apps  ·  Hospital triage  ·  Medical education tools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06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1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0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22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4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33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18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44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22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Effect">
                      <p:stCondLst>
                        <p:cond delay="55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InFromBottom">
                                      <p:cBhvr>
                                        <p:cTn id="126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afterEffect">
                      <p:stCondLst>
                        <p:cond delay="70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650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005840"/>
          </a:xfrm>
          <a:prstGeom prst="rect">
            <a:avLst/>
          </a:prstGeom>
          <a:solidFill>
            <a:srgbClr val="14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"/>
            <a:ext cx="1545336" cy="246888"/>
          </a:xfrm>
          <a:prstGeom prst="roundRect">
            <a:avLst/>
          </a:prstGeom>
          <a:solidFill>
            <a:srgbClr val="FF6B2B"/>
          </a:solidFill>
          <a:ln>
            <a:noFill/>
          </a:ln>
          <a:effectLst>
            <a:outerShdw blurRad="40000" dist="12000" dir="54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1380744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80" b="1" i="0">
                <a:solidFill>
                  <a:srgbClr val="070B14"/>
                </a:solidFill>
                <a:latin typeface="Segoe UI Semibold"/>
              </a:rPr>
              <a:t>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000" b="1" i="0">
                <a:solidFill>
                  <a:srgbClr val="F2F5FA"/>
                </a:solidFill>
                <a:latin typeface="Segoe UI Semibold"/>
              </a:rPr>
              <a:t>From Symptoms to Confident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647188" cy="896112"/>
          </a:xfrm>
          <a:prstGeom prst="roundRect">
            <a:avLst/>
          </a:prstGeom>
          <a:solidFill>
            <a:srgbClr val="141926"/>
          </a:solidFill>
          <a:ln w="19050">
            <a:solidFill>
              <a:srgbClr val="F9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647188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8D0DE"/>
                </a:solidFill>
                <a:latin typeface="Segoe UI"/>
              </a:rP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64718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900" b="1" i="0">
                <a:solidFill>
                  <a:srgbClr val="F96B6B"/>
                </a:solidFill>
                <a:latin typeface="Segoe UI Black"/>
              </a:rPr>
              <a:t>85.58 %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188720"/>
            <a:ext cx="2647188" cy="896112"/>
          </a:xfrm>
          <a:prstGeom prst="roundRect">
            <a:avLst/>
          </a:prstGeom>
          <a:solidFill>
            <a:srgbClr val="141926"/>
          </a:solidFill>
          <a:ln w="19050">
            <a:solidFill>
              <a:srgbClr val="5B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2988" y="1234440"/>
            <a:ext cx="2647188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8D0DE"/>
                </a:solidFill>
                <a:latin typeface="Segoe UI"/>
              </a:rP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2988" y="1527048"/>
            <a:ext cx="264718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900" b="1" i="0">
                <a:solidFill>
                  <a:srgbClr val="5BA8FF"/>
                </a:solidFill>
                <a:latin typeface="Segoe UI Black"/>
              </a:rPr>
              <a:t>91.47 %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188720"/>
            <a:ext cx="2647188" cy="896112"/>
          </a:xfrm>
          <a:prstGeom prst="roundRect">
            <a:avLst/>
          </a:prstGeom>
          <a:solidFill>
            <a:srgbClr val="141926"/>
          </a:solidFill>
          <a:ln w="19050"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234440"/>
            <a:ext cx="2647188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8D0DE"/>
                </a:solidFill>
                <a:latin typeface="Segoe UI"/>
              </a:rPr>
              <a:t>Random Forest (200)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527048"/>
            <a:ext cx="264718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900" b="1" i="0">
                <a:solidFill>
                  <a:srgbClr val="3DD68C"/>
                </a:solidFill>
                <a:latin typeface="Segoe UI Black"/>
              </a:rPr>
              <a:t>93.30 %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4564" y="1188720"/>
            <a:ext cx="2647188" cy="896112"/>
          </a:xfrm>
          <a:prstGeom prst="roundRect">
            <a:avLst/>
          </a:prstGeom>
          <a:solidFill>
            <a:srgbClr val="141926"/>
          </a:solidFill>
          <a:ln w="19050">
            <a:solidFill>
              <a:srgbClr val="FF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4564" y="1234440"/>
            <a:ext cx="2647188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8D0DE"/>
                </a:solidFill>
                <a:latin typeface="Segoe UI"/>
              </a:rPr>
              <a:t>Stacking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4564" y="1527048"/>
            <a:ext cx="264718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900" b="1" i="0">
                <a:solidFill>
                  <a:srgbClr val="FF6B2B"/>
                </a:solidFill>
                <a:latin typeface="Segoe UI Black"/>
              </a:rPr>
              <a:t>93.50 %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4564" y="1152144"/>
            <a:ext cx="2647188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286000"/>
            <a:ext cx="365760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FF6B2B"/>
                </a:solidFill>
                <a:latin typeface="Segoe UI"/>
              </a:rPr>
              <a:t>Key Takeaways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2606040"/>
            <a:ext cx="8046720" cy="0"/>
          </a:xfrm>
          <a:prstGeom prst="line">
            <a:avLst/>
          </a:prstGeom>
          <a:ln w="10160">
            <a:solidFill>
              <a:srgbClr val="282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2743200"/>
            <a:ext cx="8046720" cy="566928"/>
          </a:xfrm>
          <a:prstGeom prst="roundRect">
            <a:avLst/>
          </a:prstGeom>
          <a:solidFill>
            <a:srgbClr val="121624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" y="2926080"/>
            <a:ext cx="201168" cy="20116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2852928"/>
            <a:ext cx="7424927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 i="0">
                <a:solidFill>
                  <a:srgbClr val="C8D0DE"/>
                </a:solidFill>
                <a:latin typeface="Segoe UI"/>
              </a:rPr>
              <a:t>Classical ML with thoughtful feature engineering stays highly competitive for structured medical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419856"/>
            <a:ext cx="8046720" cy="566928"/>
          </a:xfrm>
          <a:prstGeom prst="roundRect">
            <a:avLst/>
          </a:prstGeom>
          <a:solidFill>
            <a:srgbClr val="121624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" y="3602736"/>
            <a:ext cx="201168" cy="20116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529584"/>
            <a:ext cx="7424927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 i="0">
                <a:solidFill>
                  <a:srgbClr val="C8D0DE"/>
                </a:solidFill>
                <a:latin typeface="Segoe UI"/>
              </a:rPr>
              <a:t>Severity-weighted symptoms + epidemiological age outperform plain binary symptom encoding.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96512"/>
            <a:ext cx="8046720" cy="566928"/>
          </a:xfrm>
          <a:prstGeom prst="roundRect">
            <a:avLst/>
          </a:prstGeom>
          <a:solidFill>
            <a:srgbClr val="121624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279392"/>
            <a:ext cx="201168" cy="20116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206240"/>
            <a:ext cx="7424927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 i="0">
                <a:solidFill>
                  <a:srgbClr val="C8D0DE"/>
                </a:solidFill>
                <a:latin typeface="Segoe UI"/>
              </a:rPr>
              <a:t>Stacking Ensemble with passthrough=True squeezes residual errors that no single model corrects alone.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73168"/>
            <a:ext cx="8046720" cy="566928"/>
          </a:xfrm>
          <a:prstGeom prst="roundRect">
            <a:avLst/>
          </a:prstGeom>
          <a:solidFill>
            <a:srgbClr val="121624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4956048"/>
            <a:ext cx="201168" cy="20116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882896"/>
            <a:ext cx="7424927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 i="0">
                <a:solidFill>
                  <a:srgbClr val="C8D0DE"/>
                </a:solidFill>
                <a:latin typeface="Segoe UI"/>
              </a:rPr>
              <a:t>50% dropout simulation makes the system robust to missing symptoms in real-world usage.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49824"/>
            <a:ext cx="8046720" cy="566928"/>
          </a:xfrm>
          <a:prstGeom prst="roundRect">
            <a:avLst/>
          </a:prstGeom>
          <a:solidFill>
            <a:srgbClr val="121624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3504" y="5632704"/>
            <a:ext cx="201168" cy="20116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559552"/>
            <a:ext cx="7424927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 i="0">
                <a:solidFill>
                  <a:srgbClr val="C8D0DE"/>
                </a:solidFill>
                <a:latin typeface="Segoe UI"/>
              </a:rPr>
              <a:t>Next step: web deployment with SHAP explanations for clinical interpretability.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53144" y="1252728"/>
            <a:ext cx="2651760" cy="4206240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98280" y="1188720"/>
            <a:ext cx="2651760" cy="4206240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1243584"/>
            <a:ext cx="50292" cy="4096511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1920240"/>
            <a:ext cx="265176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600" b="1" i="0">
                <a:solidFill>
                  <a:srgbClr val="FF6B2B"/>
                </a:solidFill>
                <a:latin typeface="Segoe UI Black"/>
              </a:rPr>
              <a:t>Questions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2487168"/>
            <a:ext cx="26517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1" i="0">
                <a:solidFill>
                  <a:srgbClr val="F2F5FA"/>
                </a:solidFill>
                <a:latin typeface="Segoe UI"/>
              </a:rPr>
              <a:t>Thank you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18320" y="2944368"/>
            <a:ext cx="2029968" cy="0"/>
          </a:xfrm>
          <a:prstGeom prst="line">
            <a:avLst/>
          </a:prstGeom>
          <a:ln w="17780">
            <a:solidFill>
              <a:srgbClr val="FF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98280" y="3108960"/>
            <a:ext cx="265176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8A94A6"/>
                </a:solidFill>
                <a:latin typeface="Segoe UI"/>
              </a:rPr>
              <a:t>Disease Prediction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438144"/>
            <a:ext cx="265176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MLC-2  |  CSE 3968  |  ITER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3657600"/>
            <a:ext cx="265176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SOA University  |  May 2026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63456" y="4160520"/>
            <a:ext cx="2231136" cy="877824"/>
          </a:xfrm>
          <a:prstGeom prst="roundRect">
            <a:avLst/>
          </a:prstGeom>
          <a:solidFill>
            <a:srgbClr val="020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08592" y="4096512"/>
            <a:ext cx="2231136" cy="877824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08592" y="4151376"/>
            <a:ext cx="50292" cy="76809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36608" y="4169664"/>
            <a:ext cx="1993391" cy="38624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 i="0">
                <a:solidFill>
                  <a:srgbClr val="FF6B2B"/>
                </a:solidFill>
                <a:latin typeface="Segoe UI Black"/>
              </a:rPr>
              <a:t>93.50%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4640762"/>
            <a:ext cx="2048255" cy="2984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Segoe UI"/>
              </a:rPr>
              <a:t>Best model accuracy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12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36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4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20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Effect">
                      <p:stCondLst>
                        <p:cond delay="35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afterEffect">
                      <p:stCondLst>
                        <p:cond delay="50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afterEffect">
                      <p:stCondLst>
                        <p:cond delay="65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afterEffect">
                      <p:stCondLst>
                        <p:cond delay="80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8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afterEffect">
                      <p:stCondLst>
                        <p:cond delay="8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2" dur="5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900">
    <p:fade thruBlk="0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280160"/>
            <a:ext cx="5486400" cy="5486400"/>
          </a:xfrm>
          <a:prstGeom prst="ellipse">
            <a:avLst/>
          </a:prstGeom>
          <a:solidFill>
            <a:srgbClr val="4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3200400" cy="3200400"/>
          </a:xfrm>
          <a:prstGeom prst="ellipse">
            <a:avLst/>
          </a:prstGeom>
          <a:solidFill>
            <a:srgbClr val="08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2011680" cy="2011680"/>
          </a:xfrm>
          <a:prstGeom prst="ellipse">
            <a:avLst/>
          </a:prstGeom>
          <a:solidFill>
            <a:srgbClr val="1A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2801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0" b="1" i="0">
                <a:solidFill>
                  <a:srgbClr val="F2F5FA"/>
                </a:solidFill>
                <a:latin typeface="Segoe UI Black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1276" y="2880360"/>
            <a:ext cx="5486400" cy="64008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90672"/>
            <a:ext cx="11274552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8A94A6"/>
                </a:solidFill>
                <a:latin typeface="Segoe UI"/>
              </a:rPr>
              <a:t>Disease Prediction System  Using 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2876" y="3611880"/>
            <a:ext cx="2743200" cy="548640"/>
          </a:xfrm>
          <a:prstGeom prst="roundRect">
            <a:avLst/>
          </a:prstGeom>
          <a:solidFill>
            <a:srgbClr val="1E1204"/>
          </a:solidFill>
          <a:ln w="17780">
            <a:solidFill>
              <a:srgbClr val="FF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2876" y="3639312"/>
            <a:ext cx="2743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50" b="1" i="0">
                <a:solidFill>
                  <a:srgbClr val="FF6B2B"/>
                </a:solidFill>
                <a:latin typeface="Segoe UI"/>
              </a:rPr>
              <a:t>★  Best Accuracy: 93.50%  (Stacking Ensemble)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3575304" cy="877824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443984"/>
            <a:ext cx="357530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2DCEBF"/>
                </a:solidFill>
                <a:latin typeface="Segoe UI Semibold"/>
              </a:rPr>
              <a:t>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6592"/>
            <a:ext cx="3575304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0" i="0">
                <a:solidFill>
                  <a:srgbClr val="C8D0DE"/>
                </a:solidFill>
                <a:latin typeface="Segoe UI"/>
              </a:rPr>
              <a:t>Machine Learning Concept-2  (CSE 3968)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4389120"/>
            <a:ext cx="3575304" cy="877824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4443984"/>
            <a:ext cx="357530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FFB330"/>
                </a:solidFill>
                <a:latin typeface="Segoe UI Semibold"/>
              </a:rPr>
              <a:t>Institute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4736592"/>
            <a:ext cx="3575304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0" i="0">
                <a:solidFill>
                  <a:srgbClr val="C8D0DE"/>
                </a:solidFill>
                <a:latin typeface="Segoe UI"/>
              </a:rPr>
              <a:t>ITER, SOA University, Bhubaneswar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4389120"/>
            <a:ext cx="3575304" cy="877824"/>
          </a:xfrm>
          <a:prstGeom prst="roundRect">
            <a:avLst/>
          </a:prstGeom>
          <a:solidFill>
            <a:srgbClr val="171D2C"/>
          </a:solidFill>
          <a:ln w="12700">
            <a:solidFill>
              <a:srgbClr val="28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4443984"/>
            <a:ext cx="357530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 i="0">
                <a:solidFill>
                  <a:srgbClr val="5BA8FF"/>
                </a:solidFill>
                <a:latin typeface="Segoe UI Semibold"/>
              </a:rPr>
              <a:t>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736592"/>
            <a:ext cx="3575304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b="0" i="0">
                <a:solidFill>
                  <a:srgbClr val="C8D0DE"/>
                </a:solidFill>
                <a:latin typeface="Segoe UI"/>
              </a:rPr>
              <a:t>May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49824"/>
            <a:ext cx="11274552" cy="457200"/>
          </a:xfrm>
          <a:prstGeom prst="roundRect">
            <a:avLst/>
          </a:prstGeom>
          <a:solidFill>
            <a:srgbClr val="101828"/>
          </a:solidFill>
          <a:ln w="15240">
            <a:solidFill>
              <a:srgbClr val="2D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86400"/>
            <a:ext cx="10817352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i="0">
                <a:solidFill>
                  <a:srgbClr val="2DCEBF"/>
                </a:solidFill>
                <a:latin typeface="Segoe UI"/>
              </a:rPr>
              <a:t>We welcome your questions  —  open for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88952" cy="9144"/>
          </a:xfrm>
          <a:prstGeom prst="rect">
            <a:avLst/>
          </a:prstGeom>
          <a:solidFill>
            <a:srgbClr val="28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  <a:latin typeface="Segoe UI"/>
              </a:rPr>
              <a:t>Disease Prediction System  ·  Using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6565392"/>
            <a:ext cx="45720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750" b="0" i="0">
                <a:solidFill>
                  <a:srgbClr val="8A94A6"/>
                </a:solidFill>
                <a:latin typeface="Segoe UI"/>
              </a:rPr>
              <a:t>MLC-2  |  CSE 3968  |  ITER, SOA University  |  May 2026</a:t>
            </a:r>
          </a:p>
        </p:txBody>
      </p:sp>
    </p:spTree>
  </p:cSld>
  <p:clrMapOvr>
    <a:masterClrMapping/>
  </p:clrMapOvr>
  <p:timing>
    <p:tnLst>
      <p:par>
        <p:cTn id="101" dur="indefinite" restart="whenNotActive" nodeType="tmRoot">
          <p:childTnLst>
            <p:seq concurrent="1" nextAc="seek">
              <p:cTn id="102" dur="indefinite" nodeType="mainSeq">
                <p:childTnLst>
                  <p:par>
                    <p:cTn id="103" fill="hold" nodeType="afterEffect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afterEffect">
                      <p:stCondLst>
                        <p:cond delay="30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4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afterEffect">
                      <p:stCondLst>
                        <p:cond delay="45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afterEffect">
                      <p:stCondLst>
                        <p:cond delay="55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afterEffect">
                      <p:stCondLst>
                        <p:cond delay="65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Effect">
                      <p:stCondLst>
                        <p:cond delay="77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afterEffect">
                      <p:stCondLst>
                        <p:cond delay="89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4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afterEffect">
                      <p:stCondLst>
                        <p:cond delay="90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n val="102"/>
                </p:cond>
              </p:nextCondLst>
            </p:seq>
          </p:childTnLst>
        </p:cTn>
      </p:par>
    </p:tnLst>
  </p:timing>
  <p:transition dur="1000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